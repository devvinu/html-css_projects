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6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7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8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9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10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tags/tag11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tags/tag12.xml" ContentType="application/vnd.openxmlformats-officedocument.presentationml.tags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44"/>
  </p:notesMasterIdLst>
  <p:sldIdLst>
    <p:sldId id="513" r:id="rId2"/>
    <p:sldId id="759" r:id="rId3"/>
    <p:sldId id="1054" r:id="rId4"/>
    <p:sldId id="1098" r:id="rId5"/>
    <p:sldId id="1099" r:id="rId6"/>
    <p:sldId id="1100" r:id="rId7"/>
    <p:sldId id="1102" r:id="rId8"/>
    <p:sldId id="1056" r:id="rId9"/>
    <p:sldId id="1103" r:id="rId10"/>
    <p:sldId id="1104" r:id="rId11"/>
    <p:sldId id="1106" r:id="rId12"/>
    <p:sldId id="1111" r:id="rId13"/>
    <p:sldId id="1118" r:id="rId14"/>
    <p:sldId id="1125" r:id="rId15"/>
    <p:sldId id="1126" r:id="rId16"/>
    <p:sldId id="1127" r:id="rId17"/>
    <p:sldId id="1128" r:id="rId18"/>
    <p:sldId id="1112" r:id="rId19"/>
    <p:sldId id="1119" r:id="rId20"/>
    <p:sldId id="1129" r:id="rId21"/>
    <p:sldId id="1130" r:id="rId22"/>
    <p:sldId id="1113" r:id="rId23"/>
    <p:sldId id="1120" r:id="rId24"/>
    <p:sldId id="1150" r:id="rId25"/>
    <p:sldId id="1131" r:id="rId26"/>
    <p:sldId id="1114" r:id="rId27"/>
    <p:sldId id="1121" r:id="rId28"/>
    <p:sldId id="1137" r:id="rId29"/>
    <p:sldId id="1138" r:id="rId30"/>
    <p:sldId id="1115" r:id="rId31"/>
    <p:sldId id="1122" r:id="rId32"/>
    <p:sldId id="1141" r:id="rId33"/>
    <p:sldId id="1142" r:id="rId34"/>
    <p:sldId id="1116" r:id="rId35"/>
    <p:sldId id="1145" r:id="rId36"/>
    <p:sldId id="1154" r:id="rId37"/>
    <p:sldId id="1146" r:id="rId38"/>
    <p:sldId id="1147" r:id="rId39"/>
    <p:sldId id="1117" r:id="rId40"/>
    <p:sldId id="1124" r:id="rId41"/>
    <p:sldId id="1148" r:id="rId42"/>
    <p:sldId id="291" r:id="rId43"/>
  </p:sldIdLst>
  <p:sldSz cx="9144000" cy="5143500" type="screen16x9"/>
  <p:notesSz cx="6858000" cy="9144000"/>
  <p:custDataLst>
    <p:tags r:id="rId45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FE8FB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77285" autoAdjust="0"/>
  </p:normalViewPr>
  <p:slideViewPr>
    <p:cSldViewPr snapToGrid="0" showGuides="1">
      <p:cViewPr varScale="1">
        <p:scale>
          <a:sx n="74" d="100"/>
          <a:sy n="74" d="100"/>
        </p:scale>
        <p:origin x="1338" y="66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17/02/2023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baseline="0" dirty="0"/>
              <a:t>Introduction to Networks v</a:t>
            </a:r>
            <a:r>
              <a:rPr lang="en-US" b="0" dirty="0"/>
              <a:t>7.0 (ITN)</a:t>
            </a:r>
          </a:p>
          <a:p>
            <a:pPr>
              <a:buFontTx/>
              <a:buNone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11: IPv4 Addressing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Addressing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11.1 – </a:t>
            </a:r>
            <a:r>
              <a:rPr lang="en-CA" dirty="0"/>
              <a:t>IPv4 Address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Addressing</a:t>
            </a:r>
            <a:endParaRPr lang="en-US" dirty="0"/>
          </a:p>
          <a:p>
            <a:r>
              <a:rPr lang="en-CA" dirty="0"/>
              <a:t>11.1 – IPv4 Address Structure</a:t>
            </a:r>
          </a:p>
          <a:p>
            <a:r>
              <a:rPr lang="en-US" dirty="0"/>
              <a:t>11.1.1 – Network and Host Portions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Addressing</a:t>
            </a:r>
            <a:endParaRPr lang="en-US" dirty="0"/>
          </a:p>
          <a:p>
            <a:r>
              <a:rPr lang="en-CA" dirty="0"/>
              <a:t>11.1 – IPv4 Address Structure</a:t>
            </a:r>
          </a:p>
          <a:p>
            <a:r>
              <a:rPr lang="en-US" dirty="0"/>
              <a:t>11.1.2 – The Subnet Mask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098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Addressing</a:t>
            </a:r>
            <a:endParaRPr lang="en-US" dirty="0"/>
          </a:p>
          <a:p>
            <a:r>
              <a:rPr lang="en-CA" dirty="0"/>
              <a:t>11.1 – IPv4 Address Structure</a:t>
            </a:r>
          </a:p>
          <a:p>
            <a:r>
              <a:rPr lang="en-US" dirty="0"/>
              <a:t>11.1.3 – The Prefix Length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588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Addressing</a:t>
            </a:r>
            <a:endParaRPr lang="en-US" dirty="0"/>
          </a:p>
          <a:p>
            <a:r>
              <a:rPr lang="en-CA" dirty="0"/>
              <a:t>11.1 – IPv4 Address Structure</a:t>
            </a:r>
          </a:p>
          <a:p>
            <a:r>
              <a:rPr lang="en-US" dirty="0"/>
              <a:t>11.1.4 – </a:t>
            </a:r>
            <a:r>
              <a:rPr lang="en-CA" dirty="0"/>
              <a:t>Determining the Network: Logical 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83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11 – IPv4 Addressing</a:t>
            </a:r>
          </a:p>
          <a:p>
            <a:r>
              <a:rPr lang="en-CA" dirty="0"/>
              <a:t>11.1 – IPv4 Address Structure</a:t>
            </a:r>
          </a:p>
          <a:p>
            <a:r>
              <a:rPr lang="en-US" dirty="0"/>
              <a:t>11.1.6 – </a:t>
            </a:r>
            <a:r>
              <a:rPr lang="en-CA" dirty="0"/>
              <a:t>Network, Host, and Broadcast Addresses</a:t>
            </a:r>
          </a:p>
          <a:p>
            <a:r>
              <a:rPr lang="en-CA" dirty="0"/>
              <a:t>11.1.7 </a:t>
            </a:r>
            <a:r>
              <a:rPr lang="en-US" dirty="0"/>
              <a:t>– Activity</a:t>
            </a:r>
            <a:r>
              <a:rPr lang="en-CA" dirty="0"/>
              <a:t> – ANDing to Determine the Network Address</a:t>
            </a:r>
          </a:p>
          <a:p>
            <a:r>
              <a:rPr lang="en-CA" dirty="0"/>
              <a:t>11.1.8 </a:t>
            </a:r>
            <a:r>
              <a:rPr lang="en-US" dirty="0"/>
              <a:t>– </a:t>
            </a:r>
            <a:r>
              <a:rPr lang="en-CA" dirty="0"/>
              <a:t>Check Your Understanding - IPv4 Address Structure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201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11.2 – </a:t>
            </a:r>
            <a:r>
              <a:rPr lang="en-CA" dirty="0"/>
              <a:t>IPv4 Unicast, Broadcast, and Multicast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11 – IPv4 Addressing</a:t>
            </a:r>
          </a:p>
          <a:p>
            <a:r>
              <a:rPr lang="en-CA" dirty="0"/>
              <a:t>11.2 – IPv4 Unicast, Broadcast, and Multicast</a:t>
            </a:r>
          </a:p>
          <a:p>
            <a:r>
              <a:rPr lang="en-US" dirty="0"/>
              <a:t>11.2.1 – Unicast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157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11 – IPv4 Addressing</a:t>
            </a:r>
          </a:p>
          <a:p>
            <a:r>
              <a:rPr lang="en-CA" dirty="0"/>
              <a:t>11.2 – IPv4 Unicast, Broadcast, and Multicast</a:t>
            </a:r>
          </a:p>
          <a:p>
            <a:r>
              <a:rPr lang="en-US" dirty="0"/>
              <a:t>11.2.2 – Broadcast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84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11 – IPv4 Addressing</a:t>
            </a:r>
          </a:p>
          <a:p>
            <a:r>
              <a:rPr lang="en-CA" dirty="0"/>
              <a:t>11.2 – IPv4 Unicast, Broadcast, and Multicast</a:t>
            </a:r>
          </a:p>
          <a:p>
            <a:r>
              <a:rPr lang="en-US" dirty="0"/>
              <a:t>11.2.3 – Multicast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11.2.4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Activity - Unicast, Broadcast, or Multicast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994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11.3 – </a:t>
            </a:r>
            <a:r>
              <a:rPr lang="en-CA" dirty="0"/>
              <a:t>Types of IPv4 Addresses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7279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11.3 – </a:t>
            </a:r>
            <a:r>
              <a:rPr lang="en-CA" dirty="0"/>
              <a:t>Types of IPv4 Addresses</a:t>
            </a:r>
            <a:endParaRPr lang="en-US" dirty="0"/>
          </a:p>
          <a:p>
            <a:r>
              <a:rPr lang="en-US" dirty="0"/>
              <a:t>11.3.1 – </a:t>
            </a:r>
            <a:r>
              <a:rPr lang="en-CA" dirty="0"/>
              <a:t>Public and Private IPv4 Addresses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823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11.3 – </a:t>
            </a:r>
            <a:r>
              <a:rPr lang="en-CA" dirty="0"/>
              <a:t>Types of IPv4 Addresses</a:t>
            </a:r>
            <a:endParaRPr lang="en-US" dirty="0"/>
          </a:p>
          <a:p>
            <a:r>
              <a:rPr lang="en-US" dirty="0"/>
              <a:t>11.3.2 – Routing to the Internet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11.3.3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Activity - Pass or Block IPv4 Addresses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5943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11.3 – </a:t>
            </a:r>
            <a:r>
              <a:rPr lang="en-CA" dirty="0"/>
              <a:t>Types of IPv4 Addresses</a:t>
            </a:r>
            <a:endParaRPr lang="en-US" dirty="0"/>
          </a:p>
          <a:p>
            <a:r>
              <a:rPr lang="en-US" dirty="0"/>
              <a:t>11.3.4 – Special Use IPv4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4941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11.3 – </a:t>
            </a:r>
            <a:r>
              <a:rPr lang="en-CA" dirty="0"/>
              <a:t>Types of IPv4 Addresses</a:t>
            </a:r>
            <a:endParaRPr lang="en-US" dirty="0"/>
          </a:p>
          <a:p>
            <a:r>
              <a:rPr lang="en-US" dirty="0"/>
              <a:t>11.3.5 – Legacy Classful Addressing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1470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11.3 – </a:t>
            </a:r>
            <a:r>
              <a:rPr lang="en-CA" dirty="0"/>
              <a:t>Types of IPv4 Addresses</a:t>
            </a:r>
            <a:endParaRPr lang="en-US" dirty="0"/>
          </a:p>
          <a:p>
            <a:r>
              <a:rPr lang="en-US" dirty="0"/>
              <a:t>11.3.6 – Assignment of IP Addresses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11.3.7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Activity - Public or Private IPv4 Address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11.3.8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Your Understanding - Types of IPv4 Addresses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7822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11.4 – </a:t>
            </a:r>
            <a:r>
              <a:rPr lang="en-CA" dirty="0"/>
              <a:t>Network Segmentation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2313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11.4 – </a:t>
            </a:r>
            <a:r>
              <a:rPr lang="en-CA" dirty="0"/>
              <a:t>Network Segmentation</a:t>
            </a:r>
          </a:p>
          <a:p>
            <a:r>
              <a:rPr lang="en-US" dirty="0"/>
              <a:t>11.4.1 – Broadcast Domains and Segmentation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0744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11.4 – </a:t>
            </a:r>
            <a:r>
              <a:rPr lang="en-CA" dirty="0"/>
              <a:t>Network Segmentation</a:t>
            </a:r>
          </a:p>
          <a:p>
            <a:r>
              <a:rPr lang="en-US" dirty="0"/>
              <a:t>11.4.2 – </a:t>
            </a:r>
            <a:r>
              <a:rPr lang="en-CA" dirty="0"/>
              <a:t>Problems with Large Broadcast Domains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6440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11.4 – </a:t>
            </a:r>
            <a:r>
              <a:rPr lang="en-CA" dirty="0"/>
              <a:t>Network Segmentation</a:t>
            </a:r>
          </a:p>
          <a:p>
            <a:r>
              <a:rPr lang="en-US" dirty="0"/>
              <a:t>11.4.3 – Reasons for Segmenting Networks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11.4.4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Your Understanding - Network Segmentation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2482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11.5 – </a:t>
            </a:r>
            <a:r>
              <a:rPr lang="en-CA" dirty="0"/>
              <a:t>Subnet an IPv4 Network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9977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11.5 – </a:t>
            </a:r>
            <a:r>
              <a:rPr lang="en-CA" dirty="0"/>
              <a:t>Subnet an IPv4 Network</a:t>
            </a:r>
            <a:endParaRPr lang="en-US" dirty="0"/>
          </a:p>
          <a:p>
            <a:r>
              <a:rPr lang="en-US" dirty="0"/>
              <a:t>11.5.1 – </a:t>
            </a:r>
            <a:r>
              <a:rPr lang="en-CA" dirty="0"/>
              <a:t>Subnet on an Octet Boundary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8872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11.5 – </a:t>
            </a:r>
            <a:r>
              <a:rPr lang="en-CA" dirty="0"/>
              <a:t>Subnet an IPv4 Network</a:t>
            </a:r>
            <a:endParaRPr lang="en-US" dirty="0"/>
          </a:p>
          <a:p>
            <a:r>
              <a:rPr lang="en-US" dirty="0"/>
              <a:t>11.5.1 – </a:t>
            </a:r>
            <a:r>
              <a:rPr lang="en-CA" dirty="0"/>
              <a:t>Subnet on an Octet Boundary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4262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11.5 – </a:t>
            </a:r>
            <a:r>
              <a:rPr lang="en-CA" dirty="0"/>
              <a:t>Subnet an IPv4 Network</a:t>
            </a:r>
            <a:endParaRPr lang="en-US" dirty="0"/>
          </a:p>
          <a:p>
            <a:r>
              <a:rPr lang="en-US" dirty="0"/>
              <a:t>11.5.2 – </a:t>
            </a:r>
            <a:r>
              <a:rPr lang="en-CA" dirty="0"/>
              <a:t>Subnet within an Octet Boundary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9841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11.6 – </a:t>
            </a:r>
            <a:r>
              <a:rPr lang="en-CA" dirty="0"/>
              <a:t>Subnet a Slash 16 and a Slash 8 Prefix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207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11.6 – </a:t>
            </a:r>
            <a:r>
              <a:rPr lang="en-CA" dirty="0"/>
              <a:t>Subnet a Slash 16 and a Slash 8 Prefix</a:t>
            </a:r>
            <a:endParaRPr lang="en-US" dirty="0"/>
          </a:p>
          <a:p>
            <a:r>
              <a:rPr lang="en-US" dirty="0"/>
              <a:t>11.6.1 – </a:t>
            </a:r>
            <a:r>
              <a:rPr lang="en-CA" dirty="0"/>
              <a:t>Create Subnets with a Slash 16 prefix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5035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11.6 – </a:t>
            </a:r>
            <a:r>
              <a:rPr lang="en-CA" dirty="0"/>
              <a:t>Subnet a Slash 16 and a Slash 8 Prefix</a:t>
            </a:r>
            <a:endParaRPr lang="en-US" dirty="0"/>
          </a:p>
          <a:p>
            <a:r>
              <a:rPr lang="en-US" dirty="0"/>
              <a:t>11.6.2 – </a:t>
            </a:r>
            <a:r>
              <a:rPr lang="en-CA" dirty="0"/>
              <a:t>Create 100 Subnets with a Slash 16 prefix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0850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11.6 – </a:t>
            </a:r>
            <a:r>
              <a:rPr lang="en-CA" dirty="0"/>
              <a:t>Subnet a Slash 16 and a Slash 8 Prefix</a:t>
            </a:r>
            <a:endParaRPr lang="en-US" dirty="0"/>
          </a:p>
          <a:p>
            <a:r>
              <a:rPr lang="en-US" dirty="0"/>
              <a:t>11.6.3 – </a:t>
            </a:r>
            <a:r>
              <a:rPr lang="en-CA" dirty="0"/>
              <a:t>Create 1000 Subnets with a Slash 8 prefix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4180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11.7 – </a:t>
            </a:r>
            <a:r>
              <a:rPr lang="en-CA" dirty="0"/>
              <a:t>Subnet to Meet Requirements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6756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11.7 – </a:t>
            </a:r>
            <a:r>
              <a:rPr lang="en-CA" dirty="0"/>
              <a:t>Subnet to Meet Requirements</a:t>
            </a:r>
          </a:p>
          <a:p>
            <a:r>
              <a:rPr lang="en-US" dirty="0"/>
              <a:t>11.7.1 – </a:t>
            </a:r>
            <a:r>
              <a:rPr lang="en-CA" dirty="0"/>
              <a:t>Subnet Private versus Public IPv4 Address Space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4504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11.7 – </a:t>
            </a:r>
            <a:r>
              <a:rPr lang="en-CA" dirty="0"/>
              <a:t>Subnet to Meet Requirements</a:t>
            </a:r>
          </a:p>
          <a:p>
            <a:r>
              <a:rPr lang="en-US" dirty="0"/>
              <a:t>11.7.2 – </a:t>
            </a:r>
            <a:r>
              <a:rPr lang="en-CA" dirty="0"/>
              <a:t>Minimize Unused Host IPv4 Addresses and Maximize Subnets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1420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11.7 – </a:t>
            </a:r>
            <a:r>
              <a:rPr lang="en-CA" dirty="0"/>
              <a:t>Subnet to Meet Requirements</a:t>
            </a:r>
          </a:p>
          <a:p>
            <a:r>
              <a:rPr lang="en-US" dirty="0"/>
              <a:t>11.7.3 – Example: Efficient IPv4 Subnetting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11.7.4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Activity - Determine the Number of Bits to Borrow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3917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11.8 – </a:t>
            </a:r>
            <a:r>
              <a:rPr lang="en-CA" dirty="0"/>
              <a:t>VLSM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950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11.8 – </a:t>
            </a:r>
            <a:r>
              <a:rPr lang="en-CA" dirty="0"/>
              <a:t>VLSM</a:t>
            </a:r>
            <a:endParaRPr lang="en-US" dirty="0"/>
          </a:p>
          <a:p>
            <a:r>
              <a:rPr lang="en-US" dirty="0"/>
              <a:t>11.8.3 – IPv4 Address Conservation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6008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11.8 – </a:t>
            </a:r>
            <a:r>
              <a:rPr lang="en-CA" dirty="0"/>
              <a:t>VLSM</a:t>
            </a:r>
            <a:endParaRPr lang="en-US" dirty="0"/>
          </a:p>
          <a:p>
            <a:r>
              <a:rPr lang="en-US" dirty="0"/>
              <a:t>11.8.3 – IPv4 Address Conservation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4150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11.8 – </a:t>
            </a:r>
            <a:r>
              <a:rPr lang="en-CA" dirty="0"/>
              <a:t>VLSM</a:t>
            </a:r>
            <a:endParaRPr lang="en-US" dirty="0"/>
          </a:p>
          <a:p>
            <a:r>
              <a:rPr lang="en-US" dirty="0"/>
              <a:t>11.8.4 – VLSM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4321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11.8 – </a:t>
            </a:r>
            <a:r>
              <a:rPr lang="en-CA" dirty="0"/>
              <a:t>VLSM</a:t>
            </a:r>
            <a:endParaRPr lang="en-US" dirty="0"/>
          </a:p>
          <a:p>
            <a:r>
              <a:rPr lang="en-US" dirty="0"/>
              <a:t>11.8.5 – VLSM Topology Address Assignment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11.8.6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Activity - VLSM Practice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194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11.9 – </a:t>
            </a:r>
            <a:r>
              <a:rPr lang="en-CA" dirty="0"/>
              <a:t>Structured Design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5597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11.9 – </a:t>
            </a:r>
            <a:r>
              <a:rPr lang="en-CA" dirty="0"/>
              <a:t>Structured Design</a:t>
            </a:r>
            <a:endParaRPr lang="en-US" dirty="0"/>
          </a:p>
          <a:p>
            <a:r>
              <a:rPr lang="en-US" dirty="0"/>
              <a:t>11.9.1 – IPv4 Network Address 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5052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– IPv4 Addressing</a:t>
            </a:r>
          </a:p>
          <a:p>
            <a:r>
              <a:rPr lang="en-US" dirty="0"/>
              <a:t>11.9 – </a:t>
            </a:r>
            <a:r>
              <a:rPr lang="en-CA" dirty="0"/>
              <a:t>Structured Design</a:t>
            </a:r>
            <a:endParaRPr lang="en-US" dirty="0"/>
          </a:p>
          <a:p>
            <a:r>
              <a:rPr lang="en-US" dirty="0"/>
              <a:t>11.9.2 – Device Address Assignment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0874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31" r:id="rId13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6557379" cy="1666626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Addressing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025" y="2334260"/>
            <a:ext cx="7598042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Address Structure</a:t>
            </a:r>
            <a:b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IPv4 Address Structure</a:t>
            </a:r>
            <a:br>
              <a:rPr lang="en-US" dirty="0"/>
            </a:br>
            <a:r>
              <a:rPr lang="en-US" sz="2400" dirty="0"/>
              <a:t>Network and Host Portions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2085744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An IPv4 address is a 32-bit hierarchical address that is made up of a network portion and a host portion.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When determining the network portion versus the host portion, you must look at the 32-bit stream.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A subnet mask is used to determine the network and host portions. 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D4F014-EE3C-4707-828B-FA78C75DB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804" y="3066806"/>
            <a:ext cx="4457929" cy="152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IPv4 Address Structure</a:t>
            </a:r>
            <a:br>
              <a:rPr lang="en-US" dirty="0"/>
            </a:br>
            <a:r>
              <a:rPr lang="en-US" sz="2400" dirty="0"/>
              <a:t>The Subnet Mask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73183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To identify the network and host portions of an IPv4 address, the subnet mask is compared to the IPv4 address bit for bit, from left to right.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127D040-EF9A-41B6-A2B0-0C5D87D85AC1}"/>
              </a:ext>
            </a:extLst>
          </p:cNvPr>
          <p:cNvSpPr txBox="1">
            <a:spLocks/>
          </p:cNvSpPr>
          <p:nvPr/>
        </p:nvSpPr>
        <p:spPr>
          <a:xfrm>
            <a:off x="431971" y="1684028"/>
            <a:ext cx="3031991" cy="154685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actual process used to identify the network and host portions is called ANDing.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DA54EB-7DE0-40F0-802E-91DE00F2C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858" y="1710838"/>
            <a:ext cx="4470630" cy="2159111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25785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IPv4 Address Structure</a:t>
            </a:r>
            <a:br>
              <a:rPr lang="en-US" dirty="0"/>
            </a:br>
            <a:r>
              <a:rPr lang="en-US" sz="2400" dirty="0"/>
              <a:t>The Prefix Length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51080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A prefix length is a less cumbersome method used to identify a subnet mask address.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21F958E-C237-4731-8453-C4FA21B38C3F}"/>
              </a:ext>
            </a:extLst>
          </p:cNvPr>
          <p:cNvSpPr txBox="1">
            <a:spLocks/>
          </p:cNvSpPr>
          <p:nvPr/>
        </p:nvSpPr>
        <p:spPr>
          <a:xfrm>
            <a:off x="431970" y="1447090"/>
            <a:ext cx="337623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prefix length is the number of bits set to 1 in the subnet mask.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It is written in “slash notation” therefore, count the number of bits in the subnet mask and prepend it with a slash.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33CEE0-728D-4198-87F2-5E9774E18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012623"/>
              </p:ext>
            </p:extLst>
          </p:nvPr>
        </p:nvGraphicFramePr>
        <p:xfrm>
          <a:off x="4046221" y="1366221"/>
          <a:ext cx="4762500" cy="34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619">
                  <a:extLst>
                    <a:ext uri="{9D8B030D-6E8A-4147-A177-3AD203B41FA5}">
                      <a16:colId xmlns:a16="http://schemas.microsoft.com/office/drawing/2014/main" val="2853717215"/>
                    </a:ext>
                  </a:extLst>
                </a:gridCol>
                <a:gridCol w="2628321">
                  <a:extLst>
                    <a:ext uri="{9D8B030D-6E8A-4147-A177-3AD203B41FA5}">
                      <a16:colId xmlns:a16="http://schemas.microsoft.com/office/drawing/2014/main" val="3859420295"/>
                    </a:ext>
                  </a:extLst>
                </a:gridCol>
                <a:gridCol w="983560">
                  <a:extLst>
                    <a:ext uri="{9D8B030D-6E8A-4147-A177-3AD203B41FA5}">
                      <a16:colId xmlns:a16="http://schemas.microsoft.com/office/drawing/2014/main" val="2152541703"/>
                    </a:ext>
                  </a:extLst>
                </a:gridCol>
              </a:tblGrid>
              <a:tr h="34094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050" b="1" dirty="0">
                          <a:effectLst/>
                        </a:rPr>
                        <a:t>Subnet Mask</a:t>
                      </a:r>
                      <a:endParaRPr lang="en-CA" sz="105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50" b="1" dirty="0">
                          <a:effectLst/>
                        </a:rPr>
                        <a:t>32-bit Address</a:t>
                      </a:r>
                      <a:endParaRPr lang="en-CA" sz="105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50" b="1" dirty="0">
                          <a:effectLst/>
                        </a:rPr>
                        <a:t>Prefix </a:t>
                      </a:r>
                    </a:p>
                    <a:p>
                      <a:pPr algn="l" fontAlgn="ctr"/>
                      <a:r>
                        <a:rPr lang="en-CA" sz="1050" b="1" dirty="0">
                          <a:effectLst/>
                        </a:rPr>
                        <a:t>Length</a:t>
                      </a:r>
                      <a:endParaRPr lang="en-CA" sz="105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17726287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255.0.0.0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</a:rPr>
                        <a:t>11111111.00000000.00000000.00000000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/8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76665342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255.255.0.0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</a:rPr>
                        <a:t>11111111.11111111.00000000.00000000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863355901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</a:rPr>
                        <a:t>11111111.11111111.11111111.00000000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609772987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255.255.255.128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</a:rPr>
                        <a:t>11111111.11111111.11111111.10000000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/25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362219286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255.255.255.192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</a:rPr>
                        <a:t>11111111.11111111.11111111.11000000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/26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881816204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255.255.255.224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</a:rPr>
                        <a:t>11111111.11111111.11111111.11100000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/27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859046036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255.255.255.240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</a:rPr>
                        <a:t>11111111.11111111.11111111.11110000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/28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913653739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255.255.255.248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</a:rPr>
                        <a:t>11111111.11111111.11111111.11111000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/29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00304742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255.255.255.252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</a:rPr>
                        <a:t>11111111.11111111.11111111.11111100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/30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35243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35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IPv4 Address Structure</a:t>
            </a:r>
            <a:br>
              <a:rPr lang="en-US" dirty="0"/>
            </a:br>
            <a:r>
              <a:rPr lang="en-CA" sz="2400" dirty="0"/>
              <a:t>Determining the Network: Logical AND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52202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A logical AND Boolean operation is used in determining the network address.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Logical AND is the comparison of two bits where only a 1 AND 1 produces a 1 and any other combination results in a 0.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1 AND 1 = 1, 0 AND 1 = 0, 1 AND 0 = 0, 0 AND 0 = 0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1 = True and 0  = False</a:t>
            </a:r>
            <a:endParaRPr lang="en-CA" sz="1600" dirty="0">
              <a:solidFill>
                <a:srgbClr val="000000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528EAA4-4ECB-4719-8E9E-7DE8051ABB69}"/>
              </a:ext>
            </a:extLst>
          </p:cNvPr>
          <p:cNvSpPr txBox="1">
            <a:spLocks/>
          </p:cNvSpPr>
          <p:nvPr/>
        </p:nvSpPr>
        <p:spPr>
          <a:xfrm>
            <a:off x="431971" y="2483539"/>
            <a:ext cx="3849573" cy="198765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To identify the network address, the host IPv4 address is logically ANDed, bit by bit, with the subnet mask to identify the network address.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2917F7-70A6-4627-8200-4118CE19C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158" y="2377440"/>
            <a:ext cx="4534133" cy="198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04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IPv4 Address Structure</a:t>
            </a:r>
            <a:br>
              <a:rPr lang="en-US" dirty="0"/>
            </a:br>
            <a:r>
              <a:rPr lang="en-CA" sz="2400" dirty="0"/>
              <a:t>Network, Host, and Broadcast Addresses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C2E9A2-7F9F-404A-B632-433B3DD70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71" y="2222298"/>
            <a:ext cx="2898633" cy="160742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5667615" cy="132838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Within each network are three types of IP addresses: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Network address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Host addresses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Broadcast address</a:t>
            </a:r>
            <a:endParaRPr 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3C58AD-E4FB-4E6F-A2AA-5493C4001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636514"/>
              </p:ext>
            </p:extLst>
          </p:nvPr>
        </p:nvGraphicFramePr>
        <p:xfrm>
          <a:off x="3512820" y="2247024"/>
          <a:ext cx="5494020" cy="2237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80">
                  <a:extLst>
                    <a:ext uri="{9D8B030D-6E8A-4147-A177-3AD203B41FA5}">
                      <a16:colId xmlns:a16="http://schemas.microsoft.com/office/drawing/2014/main" val="6951079"/>
                    </a:ext>
                  </a:extLst>
                </a:gridCol>
                <a:gridCol w="2461260">
                  <a:extLst>
                    <a:ext uri="{9D8B030D-6E8A-4147-A177-3AD203B41FA5}">
                      <a16:colId xmlns:a16="http://schemas.microsoft.com/office/drawing/2014/main" val="3669600987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195186617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3408647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 marL="31750" marR="31750" marT="31750" marB="317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50" b="1" dirty="0">
                          <a:effectLst/>
                        </a:rPr>
                        <a:t>Network Portion</a:t>
                      </a:r>
                      <a:endParaRPr lang="en-CA" sz="105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50" b="1" dirty="0">
                          <a:effectLst/>
                        </a:rPr>
                        <a:t>Host Portion</a:t>
                      </a:r>
                      <a:endParaRPr lang="en-CA" sz="105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50" b="1" dirty="0">
                          <a:effectLst/>
                        </a:rPr>
                        <a:t>Host Bits</a:t>
                      </a:r>
                      <a:endParaRPr lang="en-CA" sz="105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417013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Subnet mask </a:t>
                      </a:r>
                    </a:p>
                    <a:p>
                      <a:pPr fontAlgn="ctr"/>
                      <a:r>
                        <a:rPr lang="en-CA" sz="1000" b="1" dirty="0">
                          <a:effectLst/>
                        </a:rPr>
                        <a:t>255.255.255.</a:t>
                      </a:r>
                      <a:r>
                        <a:rPr lang="en-CA" sz="1000" b="0" dirty="0">
                          <a:effectLst/>
                        </a:rPr>
                        <a:t>0 or </a:t>
                      </a:r>
                      <a:r>
                        <a:rPr lang="en-CA" sz="1000" b="1" dirty="0">
                          <a:effectLst/>
                        </a:rPr>
                        <a:t>/24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255      255      255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11111111 11111111 11111111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212010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Network address </a:t>
                      </a:r>
                    </a:p>
                    <a:p>
                      <a:pPr fontAlgn="ctr"/>
                      <a:r>
                        <a:rPr lang="en-CA" sz="1000" b="1" dirty="0">
                          <a:effectLst/>
                        </a:rPr>
                        <a:t>192.168.10.</a:t>
                      </a:r>
                      <a:r>
                        <a:rPr lang="en-CA" sz="1000" b="0" dirty="0">
                          <a:effectLst/>
                        </a:rPr>
                        <a:t>0 or </a:t>
                      </a:r>
                      <a:r>
                        <a:rPr lang="en-CA" sz="1000" b="1" dirty="0">
                          <a:effectLst/>
                        </a:rPr>
                        <a:t>/24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192      168      10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11000000 10100000 00001010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effectLst/>
                        </a:rPr>
                        <a:t>All 0s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582796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First address </a:t>
                      </a:r>
                    </a:p>
                    <a:p>
                      <a:pPr fontAlgn="ctr"/>
                      <a:r>
                        <a:rPr lang="en-CA" sz="1000" b="1" dirty="0">
                          <a:effectLst/>
                        </a:rPr>
                        <a:t>192.168.10</a:t>
                      </a:r>
                      <a:r>
                        <a:rPr lang="en-CA" sz="1000" b="0" dirty="0">
                          <a:effectLst/>
                        </a:rPr>
                        <a:t>.1 or </a:t>
                      </a:r>
                      <a:r>
                        <a:rPr lang="en-CA" sz="1000" b="1" dirty="0">
                          <a:effectLst/>
                        </a:rPr>
                        <a:t>/24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192      168      10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11000000 10100000 00001010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00000001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effectLst/>
                        </a:rPr>
                        <a:t>All 0s and a 1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31540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Last address </a:t>
                      </a:r>
                    </a:p>
                    <a:p>
                      <a:pPr fontAlgn="ctr"/>
                      <a:r>
                        <a:rPr lang="en-CA" sz="1000" b="1" dirty="0">
                          <a:effectLst/>
                        </a:rPr>
                        <a:t>192.168.10</a:t>
                      </a:r>
                      <a:r>
                        <a:rPr lang="en-CA" sz="1000" b="0" dirty="0">
                          <a:effectLst/>
                        </a:rPr>
                        <a:t>.254 or </a:t>
                      </a:r>
                      <a:r>
                        <a:rPr lang="en-CA" sz="1000" b="1" dirty="0">
                          <a:effectLst/>
                        </a:rPr>
                        <a:t>/24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192      168      10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11000000 10100000 00001010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254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effectLst/>
                        </a:rPr>
                        <a:t>All 1s and a 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018522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Broadcast address</a:t>
                      </a:r>
                    </a:p>
                    <a:p>
                      <a:pPr fontAlgn="ctr"/>
                      <a:r>
                        <a:rPr lang="en-CA" sz="1000" b="1" dirty="0">
                          <a:effectLst/>
                        </a:rPr>
                        <a:t>192.168.10</a:t>
                      </a:r>
                      <a:r>
                        <a:rPr lang="en-CA" sz="1000" b="0" dirty="0">
                          <a:effectLst/>
                        </a:rPr>
                        <a:t>.255 or </a:t>
                      </a:r>
                      <a:r>
                        <a:rPr lang="en-CA" sz="1000" b="1" dirty="0">
                          <a:effectLst/>
                        </a:rPr>
                        <a:t>/24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192      168      10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11000000 10100000 00001010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255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effectLst/>
                        </a:rPr>
                        <a:t>All 1s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27298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40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Unicast, Broadcast, and Multicast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IPv4 Unicast, Broadcast, and Multicast</a:t>
            </a:r>
            <a:br>
              <a:rPr lang="en-US" dirty="0"/>
            </a:br>
            <a:r>
              <a:rPr lang="en-US" sz="2400" dirty="0"/>
              <a:t>Unicast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18077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Unicast transmission is sending a packet to one destination IP address.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For example, the PC at 172.16.4.1 sends a unicast packet to the printer at 172.16.4.253.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7E06A5-43CA-4616-9CC2-40C3C98FD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92" y="2132314"/>
            <a:ext cx="2829973" cy="2316347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60C084AC-73BA-4205-822C-80E03F10B01A}"/>
              </a:ext>
            </a:extLst>
          </p:cNvPr>
          <p:cNvSpPr/>
          <p:nvPr/>
        </p:nvSpPr>
        <p:spPr>
          <a:xfrm>
            <a:off x="3971431" y="2840019"/>
            <a:ext cx="1050306" cy="247426"/>
          </a:xfrm>
          <a:prstGeom prst="right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A7C70-F6C2-47F7-8084-E8C34124C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151" y="2132314"/>
            <a:ext cx="2829973" cy="231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5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IPv4 Unicast, Broadcast, and Multicast</a:t>
            </a:r>
            <a:br>
              <a:rPr lang="en-US" dirty="0"/>
            </a:br>
            <a:r>
              <a:rPr lang="en-US" sz="2400" dirty="0"/>
              <a:t>Broadcast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00166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Broadcast </a:t>
            </a:r>
            <a:r>
              <a:rPr lang="en-CA" sz="1600" dirty="0">
                <a:solidFill>
                  <a:srgbClr val="000000"/>
                </a:solidFill>
              </a:rPr>
              <a:t>transmission is sending a packet to all other destination IP addresses.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For example, the PC at 172.16.4.1 sends a broadcast packet to all IPv4 hosts.</a:t>
            </a: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F68B31-29E2-43C7-A438-1CE3A9BE1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57" y="1992794"/>
            <a:ext cx="2814401" cy="2423094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AD1DB5E3-6538-4D97-B86F-3537291085CA}"/>
              </a:ext>
            </a:extLst>
          </p:cNvPr>
          <p:cNvSpPr/>
          <p:nvPr/>
        </p:nvSpPr>
        <p:spPr>
          <a:xfrm>
            <a:off x="4046847" y="2840019"/>
            <a:ext cx="1050306" cy="247426"/>
          </a:xfrm>
          <a:prstGeom prst="right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6D91D6-8B82-4552-BA7F-ACD3DC677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498" y="1992460"/>
            <a:ext cx="2814401" cy="242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3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IPv4 Unicast, Broadcast, and Multicast</a:t>
            </a:r>
            <a:br>
              <a:rPr lang="en-US" dirty="0"/>
            </a:br>
            <a:r>
              <a:rPr lang="en-US" sz="2400" dirty="0"/>
              <a:t>Multicast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18077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Multicast </a:t>
            </a:r>
            <a:r>
              <a:rPr lang="en-CA" sz="1600" dirty="0">
                <a:solidFill>
                  <a:srgbClr val="000000"/>
                </a:solidFill>
              </a:rPr>
              <a:t>transmission is sending a packet to a multicast address group.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For example, the PC at 172.16.4.1 sends a multicast packet to the multicast group address 224.10.10.5.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08B46F-E225-4F03-B437-98A0BB4F7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73" y="2278304"/>
            <a:ext cx="2862981" cy="216952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7B0C162D-3A37-40E3-9806-62C97CB24D0F}"/>
              </a:ext>
            </a:extLst>
          </p:cNvPr>
          <p:cNvSpPr/>
          <p:nvPr/>
        </p:nvSpPr>
        <p:spPr>
          <a:xfrm>
            <a:off x="3999712" y="2840019"/>
            <a:ext cx="1050306" cy="247426"/>
          </a:xfrm>
          <a:prstGeom prst="right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C59E69-3898-4F73-83D5-D2A1CF5F0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711" y="2280614"/>
            <a:ext cx="2862981" cy="216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8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Types of IPv4 Addresses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2107682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Types of IPv4 Addresses</a:t>
            </a:r>
            <a:br>
              <a:rPr lang="en-US" dirty="0"/>
            </a:br>
            <a:r>
              <a:rPr lang="en-CA" sz="2400" dirty="0"/>
              <a:t>Public and Private IPv4 Addresses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82592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As defined in in RFC 1918, public IPv4 addresses are globally routed between internet service provider (ISP) routers.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However, private addresses are not globally routable.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8479601-5CDB-4C0D-B13C-379A83A14207}"/>
              </a:ext>
            </a:extLst>
          </p:cNvPr>
          <p:cNvSpPr txBox="1">
            <a:spLocks/>
          </p:cNvSpPr>
          <p:nvPr/>
        </p:nvSpPr>
        <p:spPr>
          <a:xfrm>
            <a:off x="431971" y="1681342"/>
            <a:ext cx="4269121" cy="246035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Private addresses are common blocks of addresses used by most organizations to assign IPv4 addresses to internal hosts.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Private IPv4 addresses are not unique and can be used internally within any network.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B44CF3-2CFA-4BA2-948A-BF99DA4FD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869958"/>
              </p:ext>
            </p:extLst>
          </p:nvPr>
        </p:nvGraphicFramePr>
        <p:xfrm>
          <a:off x="5173532" y="1804924"/>
          <a:ext cx="3644396" cy="151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648">
                  <a:extLst>
                    <a:ext uri="{9D8B030D-6E8A-4147-A177-3AD203B41FA5}">
                      <a16:colId xmlns:a16="http://schemas.microsoft.com/office/drawing/2014/main" val="828829070"/>
                    </a:ext>
                  </a:extLst>
                </a:gridCol>
                <a:gridCol w="2424748">
                  <a:extLst>
                    <a:ext uri="{9D8B030D-6E8A-4147-A177-3AD203B41FA5}">
                      <a16:colId xmlns:a16="http://schemas.microsoft.com/office/drawing/2014/main" val="17714736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dirty="0">
                          <a:effectLst/>
                        </a:rPr>
                        <a:t>Network Address and Prefix</a:t>
                      </a:r>
                      <a:endParaRPr lang="en-CA" sz="11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dirty="0">
                          <a:effectLst/>
                        </a:rPr>
                        <a:t>RFC 1918 Private Address Range</a:t>
                      </a:r>
                      <a:endParaRPr lang="en-CA" sz="11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171941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100" b="0" dirty="0">
                          <a:effectLst/>
                        </a:rPr>
                        <a:t>10.0.0.0/8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100" b="0" dirty="0">
                          <a:effectLst/>
                        </a:rPr>
                        <a:t>10.0.0.0 - 10.255.255.255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015275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100" b="0" dirty="0">
                          <a:effectLst/>
                        </a:rPr>
                        <a:t>172.16.0.0/12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100" b="0" dirty="0">
                          <a:effectLst/>
                        </a:rPr>
                        <a:t>172.16.0.0 - 172.31.255.255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058997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100" b="0" dirty="0">
                          <a:effectLst/>
                        </a:rPr>
                        <a:t>192.168.0.0/16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100" b="0" dirty="0">
                          <a:effectLst/>
                        </a:rPr>
                        <a:t>192.168.0.0 - 192.168.255.255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597758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738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Types of IPv4 Addresses</a:t>
            </a:r>
            <a:br>
              <a:rPr lang="en-US" dirty="0"/>
            </a:br>
            <a:r>
              <a:rPr lang="en-US" sz="2400" dirty="0"/>
              <a:t>Routing to the Internet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72819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Network Address Translation (NAT) translates private IPv4 addresses to public IPv4 addresses.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B41F94C-72F5-4291-BC41-D3CA12CF0380}"/>
              </a:ext>
            </a:extLst>
          </p:cNvPr>
          <p:cNvSpPr txBox="1">
            <a:spLocks/>
          </p:cNvSpPr>
          <p:nvPr/>
        </p:nvSpPr>
        <p:spPr>
          <a:xfrm>
            <a:off x="431971" y="1683758"/>
            <a:ext cx="2905739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NAT is typically enabled on the edge router connecting to the internet.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It translates the internal private address to a public global IP address.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2E9573-E9D0-43E1-8820-1689885BB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710" y="1583611"/>
            <a:ext cx="5288257" cy="344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460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Types of IPv4 Addresses</a:t>
            </a:r>
            <a:br>
              <a:rPr lang="en-US" dirty="0"/>
            </a:br>
            <a:r>
              <a:rPr lang="en-US" sz="2400" dirty="0"/>
              <a:t>Special Use IPv4 Addresses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4799905" cy="1478990"/>
          </a:xfrm>
        </p:spPr>
        <p:txBody>
          <a:bodyPr/>
          <a:lstStyle/>
          <a:p>
            <a:pPr marL="0" indent="0" algn="l"/>
            <a:r>
              <a:rPr lang="en-CA" dirty="0">
                <a:solidFill>
                  <a:srgbClr val="000000"/>
                </a:solidFill>
              </a:rPr>
              <a:t>Loopback addresses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127.0.0.0 /8 (127.0.0.1 to 127.255.255.254)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Commonly identified as only 127.0.0.1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Used on a host to test if TCP/IP is operational.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E57F18-BC87-45CB-B8E6-D449D4527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308" y="1214135"/>
            <a:ext cx="3564074" cy="876875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5B257E1-0405-4735-85E9-547525F12CE6}"/>
              </a:ext>
            </a:extLst>
          </p:cNvPr>
          <p:cNvSpPr txBox="1">
            <a:spLocks/>
          </p:cNvSpPr>
          <p:nvPr/>
        </p:nvSpPr>
        <p:spPr>
          <a:xfrm>
            <a:off x="431970" y="2385343"/>
            <a:ext cx="8206421" cy="1906958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dirty="0">
                <a:solidFill>
                  <a:srgbClr val="000000"/>
                </a:solidFill>
              </a:rPr>
              <a:t>Link-Local addresses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169.254.0.0 /16 (169.254.0.1 to 169.254.255.254)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Commonly known as the Automatic Private IP Addressing (APIPA) addresses or self-assigned addresses.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Used by Windows DHCP clients to self-configure when no DHCP servers are available.</a:t>
            </a:r>
          </a:p>
        </p:txBody>
      </p:sp>
    </p:spTree>
    <p:extLst>
      <p:ext uri="{BB962C8B-B14F-4D97-AF65-F5344CB8AC3E}">
        <p14:creationId xmlns:p14="http://schemas.microsoft.com/office/powerpoint/2010/main" val="400780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Types of IPv4 Addresses</a:t>
            </a:r>
            <a:br>
              <a:rPr lang="en-US" dirty="0"/>
            </a:br>
            <a:r>
              <a:rPr lang="en-US" sz="2400" dirty="0"/>
              <a:t>Legacy Classful Addressing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CDBF03-421E-4564-9492-4248ADBE4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551" y="1248180"/>
            <a:ext cx="3163682" cy="183659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685733"/>
            <a:ext cx="4956309" cy="4060826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RFC 790 (1981) allocated IPv4 addresses in classes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Class A (0.0.0.0/8 to 127.0.0.0/8)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Class B (128.0.0.0 /16 – 191.255.0.0 /16)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Class C (192.0.0.0 /24 – 223.255.255.0 /24)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Class D (224.0.0.0 to 239.0.0.0)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Class E (240.0.0.0 – 255.0.0.0)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Classful addressing wasted many IPv4 addresses.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Classful address allocation was replaced with classless addressing which ignores the rules of classes (A, B, C). </a:t>
            </a:r>
          </a:p>
        </p:txBody>
      </p:sp>
    </p:spTree>
    <p:extLst>
      <p:ext uri="{BB962C8B-B14F-4D97-AF65-F5344CB8AC3E}">
        <p14:creationId xmlns:p14="http://schemas.microsoft.com/office/powerpoint/2010/main" val="72890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Types of IPv4 Addresses</a:t>
            </a:r>
            <a:br>
              <a:rPr lang="en-US" dirty="0"/>
            </a:br>
            <a:r>
              <a:rPr lang="en-US" sz="2400" dirty="0"/>
              <a:t>Assignment of IP Addresses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73771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Internet Assigned Numbers Authority (IANA) manages and allocates blocks of IPv4 and IPv6 addresses to five Regional Internet Registries (RIRs). 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09BC4D9-9184-42D7-839E-39E96E08A3D4}"/>
              </a:ext>
            </a:extLst>
          </p:cNvPr>
          <p:cNvSpPr txBox="1">
            <a:spLocks/>
          </p:cNvSpPr>
          <p:nvPr/>
        </p:nvSpPr>
        <p:spPr>
          <a:xfrm>
            <a:off x="431970" y="1681116"/>
            <a:ext cx="3337951" cy="2248249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RIRs are responsible for allocating IP addresses to ISPs who provide IPv4 address blocks to smaller ISPs and organizations.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2C39C3-1B89-41EA-828D-DA77348A5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299" y="1681116"/>
            <a:ext cx="4607351" cy="237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40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Segmentation</a:t>
            </a:r>
            <a:b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6237413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Segmentation</a:t>
            </a:r>
            <a:br>
              <a:rPr lang="en-US" dirty="0"/>
            </a:br>
            <a:r>
              <a:rPr lang="en-US" sz="2400" dirty="0"/>
              <a:t>Broadcast Domains and Segmentation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8"/>
            <a:ext cx="8217177" cy="119019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Many protocols use broadcasts or multicasts (e.g., ARP use broadcasts to locate other devices, hosts send DHCP discover broadcasts to locate a DHCP server.)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Switches propagate broadcasts out all interfaces except the interface on which it was received.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398782-9905-4785-9579-06EB01676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16" y="1910848"/>
            <a:ext cx="4432055" cy="2638933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45B5FA5-3694-4D86-AB3C-0BB4544AC221}"/>
              </a:ext>
            </a:extLst>
          </p:cNvPr>
          <p:cNvSpPr txBox="1">
            <a:spLocks/>
          </p:cNvSpPr>
          <p:nvPr/>
        </p:nvSpPr>
        <p:spPr>
          <a:xfrm>
            <a:off x="5464792" y="2205317"/>
            <a:ext cx="3324206" cy="2344464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only device that stops broadcasts is a router.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Routers do not propagate broadcasts.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Each router interface connects to a broadcast domain and broadcasts are only propagated within that specific broadcast domain.</a:t>
            </a:r>
          </a:p>
        </p:txBody>
      </p:sp>
    </p:spTree>
    <p:extLst>
      <p:ext uri="{BB962C8B-B14F-4D97-AF65-F5344CB8AC3E}">
        <p14:creationId xmlns:p14="http://schemas.microsoft.com/office/powerpoint/2010/main" val="46914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Segmentation</a:t>
            </a:r>
            <a:br>
              <a:rPr lang="en-US" dirty="0"/>
            </a:br>
            <a:r>
              <a:rPr lang="en-CA" sz="2400" dirty="0"/>
              <a:t>Problems with Large Broadcast Domains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8"/>
            <a:ext cx="4807003" cy="389946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A problem with a large broadcast domain is that these hosts can generate excessive broadcasts and negatively affect the network.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solution is to reduce the size of the network to create smaller broadcast domains in a process called subnetting.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Dividing the network address 172.16.0.0 /16 into two subnets of 200 users each: 172.16.0.0 /24 and 172.16.1.0 /24.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Broadcasts are only propagated within the smaller broadcast domains.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7A91AF-16E4-4E33-B4E6-A586D3355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794" y="582072"/>
            <a:ext cx="3330224" cy="19800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746CC1-6CFB-4882-AB1A-AEF0BB439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5109" y="2791150"/>
            <a:ext cx="3802562" cy="175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2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Segmentation</a:t>
            </a:r>
            <a:br>
              <a:rPr lang="en-US" dirty="0"/>
            </a:br>
            <a:r>
              <a:rPr lang="en-US" sz="2400" dirty="0"/>
              <a:t>Reasons for Segmenting Networks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550058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Subnetting reduces overall network traffic and improves network performance.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It can be used to implement security policies between subnets.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Subnetting reduces the number of devices affected by abnormal broadcast traffic.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Subnets are used for a variety of reasons including by: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D8B652-544C-4DA4-843F-B9A537AD3E84}"/>
              </a:ext>
            </a:extLst>
          </p:cNvPr>
          <p:cNvSpPr/>
          <p:nvPr/>
        </p:nvSpPr>
        <p:spPr>
          <a:xfrm>
            <a:off x="375431" y="2492000"/>
            <a:ext cx="2698320" cy="1806839"/>
          </a:xfrm>
          <a:prstGeom prst="rect">
            <a:avLst/>
          </a:prstGeom>
          <a:noFill/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dirty="0"/>
              <a:t>Location</a:t>
            </a:r>
            <a:endParaRPr lang="en-CA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D0E2D3-D553-4D04-B410-56EFCD0EF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56" y="2914594"/>
            <a:ext cx="2789064" cy="131832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CC4029-1176-45DF-9BD6-D3DC9A0400D7}"/>
              </a:ext>
            </a:extLst>
          </p:cNvPr>
          <p:cNvSpPr/>
          <p:nvPr/>
        </p:nvSpPr>
        <p:spPr>
          <a:xfrm>
            <a:off x="3342986" y="2492000"/>
            <a:ext cx="2698320" cy="2036970"/>
          </a:xfrm>
          <a:prstGeom prst="rect">
            <a:avLst/>
          </a:prstGeom>
          <a:noFill/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dirty="0"/>
              <a:t>Group or Function</a:t>
            </a:r>
            <a:endParaRPr lang="en-CA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32D7C8-8057-4C93-9478-2A5D8FE11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358" y="2879280"/>
            <a:ext cx="2372228" cy="157170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8AE73D0-B95E-40DB-9C64-6AF021F99C3A}"/>
              </a:ext>
            </a:extLst>
          </p:cNvPr>
          <p:cNvSpPr/>
          <p:nvPr/>
        </p:nvSpPr>
        <p:spPr>
          <a:xfrm>
            <a:off x="6319781" y="2483461"/>
            <a:ext cx="2523186" cy="2036970"/>
          </a:xfrm>
          <a:prstGeom prst="rect">
            <a:avLst/>
          </a:prstGeom>
          <a:noFill/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dirty="0"/>
              <a:t>Device Type</a:t>
            </a:r>
            <a:endParaRPr lang="en-CA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853623-0268-429C-9C1F-8E5C4E0CD0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832" y="2900796"/>
            <a:ext cx="2372228" cy="157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21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Subnet an IPv4 Network</a:t>
            </a:r>
            <a:b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3752357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Subnet an IPv4 Network</a:t>
            </a:r>
            <a:br>
              <a:rPr lang="en-US" dirty="0"/>
            </a:br>
            <a:r>
              <a:rPr lang="en-CA" sz="2400" dirty="0"/>
              <a:t>Subnet on an Octet Boundary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11478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Networks are most easily subnetted at the octet boundary of /8, /16, and /24.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Notice that using longer prefix lengths decreases the number of hosts per subnet.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61C527-BCD3-42E1-8735-11AC62583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700362"/>
              </p:ext>
            </p:extLst>
          </p:nvPr>
        </p:nvGraphicFramePr>
        <p:xfrm>
          <a:off x="991974" y="2111017"/>
          <a:ext cx="6896100" cy="156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376">
                  <a:extLst>
                    <a:ext uri="{9D8B030D-6E8A-4147-A177-3AD203B41FA5}">
                      <a16:colId xmlns:a16="http://schemas.microsoft.com/office/drawing/2014/main" val="401309278"/>
                    </a:ext>
                  </a:extLst>
                </a:gridCol>
                <a:gridCol w="1215438">
                  <a:extLst>
                    <a:ext uri="{9D8B030D-6E8A-4147-A177-3AD203B41FA5}">
                      <a16:colId xmlns:a16="http://schemas.microsoft.com/office/drawing/2014/main" val="1282189193"/>
                    </a:ext>
                  </a:extLst>
                </a:gridCol>
                <a:gridCol w="3473910">
                  <a:extLst>
                    <a:ext uri="{9D8B030D-6E8A-4147-A177-3AD203B41FA5}">
                      <a16:colId xmlns:a16="http://schemas.microsoft.com/office/drawing/2014/main" val="2307218981"/>
                    </a:ext>
                  </a:extLst>
                </a:gridCol>
                <a:gridCol w="1103376">
                  <a:extLst>
                    <a:ext uri="{9D8B030D-6E8A-4147-A177-3AD203B41FA5}">
                      <a16:colId xmlns:a16="http://schemas.microsoft.com/office/drawing/2014/main" val="1338141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dirty="0">
                          <a:effectLst/>
                        </a:rPr>
                        <a:t>Prefix Length</a:t>
                      </a:r>
                      <a:endParaRPr lang="en-CA" sz="11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dirty="0">
                          <a:effectLst/>
                        </a:rPr>
                        <a:t>Subnet Mask</a:t>
                      </a:r>
                      <a:endParaRPr lang="en-CA" sz="11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dirty="0">
                          <a:effectLst/>
                        </a:rPr>
                        <a:t>Subnet Mask in Binary (n = network, h = host)</a:t>
                      </a:r>
                      <a:endParaRPr lang="en-CA" sz="11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dirty="0">
                          <a:effectLst/>
                        </a:rPr>
                        <a:t># of hosts</a:t>
                      </a:r>
                      <a:endParaRPr lang="en-CA" sz="11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00614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100" b="1" dirty="0">
                          <a:effectLst/>
                        </a:rPr>
                        <a:t>/8</a:t>
                      </a:r>
                      <a:endParaRPr lang="en-CA" sz="11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100" b="1" dirty="0">
                          <a:effectLst/>
                        </a:rPr>
                        <a:t>255</a:t>
                      </a:r>
                      <a:r>
                        <a:rPr lang="en-CA" sz="1100" b="0" dirty="0">
                          <a:effectLst/>
                        </a:rPr>
                        <a:t>.0.0.0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1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</a:t>
                      </a:r>
                      <a: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.hhhhhhhh.hhhhhhhh.hhhhhhhh </a:t>
                      </a:r>
                      <a:b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1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</a:t>
                      </a:r>
                      <a: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.00000000.00000000.00000000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16,777,214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637917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100" b="1" dirty="0">
                          <a:effectLst/>
                        </a:rPr>
                        <a:t>/16</a:t>
                      </a:r>
                      <a:endParaRPr lang="en-CA" sz="11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100" b="1" dirty="0">
                          <a:effectLst/>
                        </a:rPr>
                        <a:t>255.255</a:t>
                      </a:r>
                      <a:r>
                        <a:rPr lang="en-CA" sz="1100" b="0" dirty="0">
                          <a:effectLst/>
                        </a:rPr>
                        <a:t>.0.0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1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</a:t>
                      </a:r>
                      <a: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.hhhhhhhh.hhhhhhhh </a:t>
                      </a:r>
                      <a:b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1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</a:t>
                      </a:r>
                      <a: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.00000000.00000000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65,534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750285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100" b="1" dirty="0">
                          <a:effectLst/>
                        </a:rPr>
                        <a:t>/24</a:t>
                      </a:r>
                      <a:endParaRPr lang="en-CA" sz="11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100" b="1" dirty="0">
                          <a:effectLst/>
                        </a:rPr>
                        <a:t>255.255.255</a:t>
                      </a:r>
                      <a:r>
                        <a:rPr lang="en-CA" sz="1100" b="0" dirty="0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1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</a:t>
                      </a:r>
                      <a: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CA" sz="11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</a:t>
                      </a:r>
                      <a: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.hhhhhhhh </a:t>
                      </a:r>
                      <a:b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1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</a:t>
                      </a:r>
                      <a: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444667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37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Subnet an IPv4 Network</a:t>
            </a:r>
            <a:br>
              <a:rPr lang="en-US" dirty="0"/>
            </a:br>
            <a:r>
              <a:rPr lang="en-CA" sz="2400" dirty="0"/>
              <a:t>Subnet on an Octet Boundary (Cont.)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07768"/>
            <a:ext cx="8280057" cy="36251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In the first table 10.0.0.0/8 is subnetted using /16 and in the second table, a /24 mask.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1270C55-FA5F-44D6-BE83-71DEA8A801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006946"/>
              </p:ext>
            </p:extLst>
          </p:nvPr>
        </p:nvGraphicFramePr>
        <p:xfrm>
          <a:off x="457200" y="1246211"/>
          <a:ext cx="3870960" cy="343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314">
                  <a:extLst>
                    <a:ext uri="{9D8B030D-6E8A-4147-A177-3AD203B41FA5}">
                      <a16:colId xmlns:a16="http://schemas.microsoft.com/office/drawing/2014/main" val="1832368472"/>
                    </a:ext>
                  </a:extLst>
                </a:gridCol>
                <a:gridCol w="1741186">
                  <a:extLst>
                    <a:ext uri="{9D8B030D-6E8A-4147-A177-3AD203B41FA5}">
                      <a16:colId xmlns:a16="http://schemas.microsoft.com/office/drawing/2014/main" val="3133033927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1854765229"/>
                    </a:ext>
                  </a:extLst>
                </a:gridCol>
              </a:tblGrid>
              <a:tr h="409211"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dirty="0">
                          <a:effectLst/>
                        </a:rPr>
                        <a:t>Subnet Address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lang="en-CA" sz="1000" b="0" dirty="0">
                          <a:effectLst/>
                        </a:rPr>
                        <a:t>(256 Possible Subnets)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dirty="0">
                          <a:effectLst/>
                        </a:rPr>
                        <a:t>Host Range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lang="en-CA" sz="1000" b="0" dirty="0">
                          <a:effectLst/>
                        </a:rPr>
                        <a:t>(65,534 possible hosts per subnet)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dirty="0">
                          <a:effectLst/>
                        </a:rPr>
                        <a:t>Broadcast</a:t>
                      </a:r>
                      <a:endParaRPr lang="en-CA" sz="10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621925027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10.0</a:t>
                      </a:r>
                      <a:r>
                        <a:rPr lang="en-CA" sz="1000" b="0" dirty="0">
                          <a:effectLst/>
                        </a:rPr>
                        <a:t>.0.0</a:t>
                      </a:r>
                      <a:r>
                        <a:rPr lang="en-CA" sz="1000" b="1" dirty="0">
                          <a:effectLst/>
                        </a:rPr>
                        <a:t>/16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10.0</a:t>
                      </a:r>
                      <a:r>
                        <a:rPr lang="en-CA" sz="1000" b="0" dirty="0">
                          <a:effectLst/>
                        </a:rPr>
                        <a:t>.0.1 - </a:t>
                      </a:r>
                      <a:r>
                        <a:rPr lang="en-CA" sz="1000" b="1" dirty="0">
                          <a:effectLst/>
                        </a:rPr>
                        <a:t>10.0</a:t>
                      </a:r>
                      <a:r>
                        <a:rPr lang="en-CA" sz="1000" b="0" dirty="0">
                          <a:effectLst/>
                        </a:rPr>
                        <a:t>.255.254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10.0</a:t>
                      </a:r>
                      <a:r>
                        <a:rPr lang="en-CA" sz="1000" b="0" dirty="0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643493669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10.1.</a:t>
                      </a:r>
                      <a:r>
                        <a:rPr lang="en-CA" sz="1000" b="0" dirty="0">
                          <a:effectLst/>
                        </a:rPr>
                        <a:t>0.0</a:t>
                      </a:r>
                      <a:r>
                        <a:rPr lang="en-CA" sz="1000" b="1" dirty="0">
                          <a:effectLst/>
                        </a:rPr>
                        <a:t>/16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10.1</a:t>
                      </a:r>
                      <a:r>
                        <a:rPr lang="en-CA" sz="1000" b="0" dirty="0">
                          <a:effectLst/>
                        </a:rPr>
                        <a:t>.0.1 - </a:t>
                      </a:r>
                      <a:r>
                        <a:rPr lang="en-CA" sz="1000" b="1" dirty="0">
                          <a:effectLst/>
                        </a:rPr>
                        <a:t>10.1</a:t>
                      </a:r>
                      <a:r>
                        <a:rPr lang="en-CA" sz="1000" b="0" dirty="0">
                          <a:effectLst/>
                        </a:rPr>
                        <a:t>.255.254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10.1</a:t>
                      </a:r>
                      <a:r>
                        <a:rPr lang="en-CA" sz="1000" b="0" dirty="0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459356146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10.2</a:t>
                      </a:r>
                      <a:r>
                        <a:rPr lang="en-CA" sz="1000" b="0" dirty="0">
                          <a:effectLst/>
                        </a:rPr>
                        <a:t>.0.0</a:t>
                      </a:r>
                      <a:r>
                        <a:rPr lang="en-CA" sz="1000" b="1" dirty="0">
                          <a:effectLst/>
                        </a:rPr>
                        <a:t>/16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10.2</a:t>
                      </a:r>
                      <a:r>
                        <a:rPr lang="en-CA" sz="1000" b="0" dirty="0">
                          <a:effectLst/>
                        </a:rPr>
                        <a:t>.0.1 - </a:t>
                      </a:r>
                      <a:r>
                        <a:rPr lang="en-CA" sz="1000" b="1" dirty="0">
                          <a:effectLst/>
                        </a:rPr>
                        <a:t>10.2</a:t>
                      </a:r>
                      <a:r>
                        <a:rPr lang="en-CA" sz="1000" b="0" dirty="0">
                          <a:effectLst/>
                        </a:rPr>
                        <a:t>.255.254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10.2</a:t>
                      </a:r>
                      <a:r>
                        <a:rPr lang="en-CA" sz="1000" b="0" dirty="0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7579166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10.3</a:t>
                      </a:r>
                      <a:r>
                        <a:rPr lang="en-CA" sz="1000" b="0" dirty="0">
                          <a:effectLst/>
                        </a:rPr>
                        <a:t>.0.0</a:t>
                      </a:r>
                      <a:r>
                        <a:rPr lang="en-CA" sz="1000" b="1" dirty="0">
                          <a:effectLst/>
                        </a:rPr>
                        <a:t>/16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10.3</a:t>
                      </a:r>
                      <a:r>
                        <a:rPr lang="en-CA" sz="1000" b="0" dirty="0">
                          <a:effectLst/>
                        </a:rPr>
                        <a:t>.0.1 - </a:t>
                      </a:r>
                      <a:r>
                        <a:rPr lang="en-CA" sz="1000" b="1" dirty="0">
                          <a:effectLst/>
                        </a:rPr>
                        <a:t>10.3</a:t>
                      </a:r>
                      <a:r>
                        <a:rPr lang="en-CA" sz="1000" b="0" dirty="0">
                          <a:effectLst/>
                        </a:rPr>
                        <a:t>.255.254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10.3</a:t>
                      </a:r>
                      <a:r>
                        <a:rPr lang="en-CA" sz="1000" b="0" dirty="0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246693201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10.4</a:t>
                      </a:r>
                      <a:r>
                        <a:rPr lang="en-CA" sz="1000" b="0" dirty="0">
                          <a:effectLst/>
                        </a:rPr>
                        <a:t>.0.0</a:t>
                      </a:r>
                      <a:r>
                        <a:rPr lang="en-CA" sz="1000" b="1" dirty="0">
                          <a:effectLst/>
                        </a:rPr>
                        <a:t>/16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10.4</a:t>
                      </a:r>
                      <a:r>
                        <a:rPr lang="en-CA" sz="1000" b="0" dirty="0">
                          <a:effectLst/>
                        </a:rPr>
                        <a:t>.0.1 - </a:t>
                      </a:r>
                      <a:r>
                        <a:rPr lang="en-CA" sz="1000" b="1" dirty="0">
                          <a:effectLst/>
                        </a:rPr>
                        <a:t>10.4</a:t>
                      </a:r>
                      <a:r>
                        <a:rPr lang="en-CA" sz="1000" b="0" dirty="0">
                          <a:effectLst/>
                        </a:rPr>
                        <a:t>.255.254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10.4</a:t>
                      </a:r>
                      <a:r>
                        <a:rPr lang="en-CA" sz="1000" b="0" dirty="0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260802008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10.5</a:t>
                      </a:r>
                      <a:r>
                        <a:rPr lang="en-CA" sz="1000" b="0" dirty="0">
                          <a:effectLst/>
                        </a:rPr>
                        <a:t>.0.0</a:t>
                      </a:r>
                      <a:r>
                        <a:rPr lang="en-CA" sz="1000" b="1" dirty="0">
                          <a:effectLst/>
                        </a:rPr>
                        <a:t>/16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10.5</a:t>
                      </a:r>
                      <a:r>
                        <a:rPr lang="en-CA" sz="1000" b="0" dirty="0">
                          <a:effectLst/>
                        </a:rPr>
                        <a:t>.0.1 - </a:t>
                      </a:r>
                      <a:r>
                        <a:rPr lang="en-CA" sz="1000" b="1" dirty="0">
                          <a:effectLst/>
                        </a:rPr>
                        <a:t>10.5</a:t>
                      </a:r>
                      <a:r>
                        <a:rPr lang="en-CA" sz="1000" b="0" dirty="0">
                          <a:effectLst/>
                        </a:rPr>
                        <a:t>.255.254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10.5</a:t>
                      </a:r>
                      <a:r>
                        <a:rPr lang="en-CA" sz="1000" b="0" dirty="0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140251696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10.6</a:t>
                      </a:r>
                      <a:r>
                        <a:rPr lang="en-CA" sz="1000" b="0" dirty="0">
                          <a:effectLst/>
                        </a:rPr>
                        <a:t>.0.0</a:t>
                      </a:r>
                      <a:r>
                        <a:rPr lang="en-CA" sz="1000" b="1" dirty="0">
                          <a:effectLst/>
                        </a:rPr>
                        <a:t>/16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10.6</a:t>
                      </a:r>
                      <a:r>
                        <a:rPr lang="en-CA" sz="1000" b="0" dirty="0">
                          <a:effectLst/>
                        </a:rPr>
                        <a:t>.0.1 - </a:t>
                      </a:r>
                      <a:r>
                        <a:rPr lang="en-CA" sz="1000" b="1" dirty="0">
                          <a:effectLst/>
                        </a:rPr>
                        <a:t>10.6</a:t>
                      </a:r>
                      <a:r>
                        <a:rPr lang="en-CA" sz="1000" b="0" dirty="0">
                          <a:effectLst/>
                        </a:rPr>
                        <a:t>.255.254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10.6</a:t>
                      </a:r>
                      <a:r>
                        <a:rPr lang="en-CA" sz="1000" b="0" dirty="0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79384603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10.7</a:t>
                      </a:r>
                      <a:r>
                        <a:rPr lang="en-CA" sz="1000" b="0" dirty="0">
                          <a:effectLst/>
                        </a:rPr>
                        <a:t>.0.0</a:t>
                      </a:r>
                      <a:r>
                        <a:rPr lang="en-CA" sz="1000" b="1" dirty="0">
                          <a:effectLst/>
                        </a:rPr>
                        <a:t>/16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10.7</a:t>
                      </a:r>
                      <a:r>
                        <a:rPr lang="en-CA" sz="1000" b="0" dirty="0">
                          <a:effectLst/>
                        </a:rPr>
                        <a:t>.0.1 - </a:t>
                      </a:r>
                      <a:r>
                        <a:rPr lang="en-CA" sz="1000" b="1" dirty="0">
                          <a:effectLst/>
                        </a:rPr>
                        <a:t>10.7</a:t>
                      </a:r>
                      <a:r>
                        <a:rPr lang="en-CA" sz="1000" b="0" dirty="0">
                          <a:effectLst/>
                        </a:rPr>
                        <a:t>.255.254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10.7</a:t>
                      </a:r>
                      <a:r>
                        <a:rPr lang="en-CA" sz="1000" b="0" dirty="0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319694656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...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...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...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511108504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10.255</a:t>
                      </a:r>
                      <a:r>
                        <a:rPr lang="en-CA" sz="1000" b="0" dirty="0">
                          <a:effectLst/>
                        </a:rPr>
                        <a:t>.0.0</a:t>
                      </a:r>
                      <a:r>
                        <a:rPr lang="en-CA" sz="1000" b="1" dirty="0">
                          <a:effectLst/>
                        </a:rPr>
                        <a:t>/16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10.255</a:t>
                      </a:r>
                      <a:r>
                        <a:rPr lang="en-CA" sz="1000" b="0" dirty="0">
                          <a:effectLst/>
                        </a:rPr>
                        <a:t>.0.1 - </a:t>
                      </a:r>
                      <a:r>
                        <a:rPr lang="en-CA" sz="1000" b="1" dirty="0">
                          <a:effectLst/>
                        </a:rPr>
                        <a:t>10.255</a:t>
                      </a:r>
                      <a:r>
                        <a:rPr lang="en-CA" sz="1000" b="0" dirty="0">
                          <a:effectLst/>
                        </a:rPr>
                        <a:t>.255.254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10.255</a:t>
                      </a:r>
                      <a:r>
                        <a:rPr lang="en-CA" sz="1000" b="0" dirty="0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3694172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A119983-4ED6-4A9F-ABB0-451D571C3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71318"/>
              </p:ext>
            </p:extLst>
          </p:nvPr>
        </p:nvGraphicFramePr>
        <p:xfrm>
          <a:off x="4671059" y="1246212"/>
          <a:ext cx="4152901" cy="3435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21">
                  <a:extLst>
                    <a:ext uri="{9D8B030D-6E8A-4147-A177-3AD203B41FA5}">
                      <a16:colId xmlns:a16="http://schemas.microsoft.com/office/drawing/2014/main" val="1832368472"/>
                    </a:ext>
                  </a:extLst>
                </a:gridCol>
                <a:gridCol w="1998805">
                  <a:extLst>
                    <a:ext uri="{9D8B030D-6E8A-4147-A177-3AD203B41FA5}">
                      <a16:colId xmlns:a16="http://schemas.microsoft.com/office/drawing/2014/main" val="3133033927"/>
                    </a:ext>
                  </a:extLst>
                </a:gridCol>
                <a:gridCol w="956475">
                  <a:extLst>
                    <a:ext uri="{9D8B030D-6E8A-4147-A177-3AD203B41FA5}">
                      <a16:colId xmlns:a16="http://schemas.microsoft.com/office/drawing/2014/main" val="1854765229"/>
                    </a:ext>
                  </a:extLst>
                </a:gridCol>
              </a:tblGrid>
              <a:tr h="520177"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dirty="0">
                          <a:effectLst/>
                        </a:rPr>
                        <a:t>Subnet Address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lang="en-CA" sz="1000" b="0" dirty="0">
                          <a:effectLst/>
                        </a:rPr>
                        <a:t>(65,536 Possible Subnets)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dirty="0">
                          <a:effectLst/>
                        </a:rPr>
                        <a:t>Host Range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lang="en-CA" sz="1000" b="0" dirty="0">
                          <a:effectLst/>
                        </a:rPr>
                        <a:t>(254 possible hosts per subnet)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dirty="0">
                          <a:effectLst/>
                        </a:rPr>
                        <a:t>Broadcast</a:t>
                      </a:r>
                      <a:endParaRPr lang="en-CA" sz="10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621925027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10.0.0</a:t>
                      </a:r>
                      <a:r>
                        <a:rPr lang="en-CA" sz="1000" b="0" dirty="0">
                          <a:effectLst/>
                        </a:rPr>
                        <a:t>.0</a:t>
                      </a:r>
                      <a:r>
                        <a:rPr lang="en-CA" sz="1000" b="1" dirty="0">
                          <a:effectLst/>
                        </a:rPr>
                        <a:t>/24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10.0.0</a:t>
                      </a:r>
                      <a:r>
                        <a:rPr lang="en-CA" sz="1000" b="0" dirty="0">
                          <a:effectLst/>
                        </a:rPr>
                        <a:t>.1 - </a:t>
                      </a:r>
                      <a:r>
                        <a:rPr lang="en-CA" sz="1000" b="1" dirty="0">
                          <a:effectLst/>
                        </a:rPr>
                        <a:t>10.0.0</a:t>
                      </a:r>
                      <a:r>
                        <a:rPr lang="en-CA" sz="1000" b="0" dirty="0">
                          <a:effectLst/>
                        </a:rPr>
                        <a:t>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10.0.0</a:t>
                      </a:r>
                      <a:r>
                        <a:rPr lang="en-CA" sz="1000" b="0" dirty="0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48350670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10.0.1</a:t>
                      </a:r>
                      <a:r>
                        <a:rPr lang="en-CA" sz="1000" b="0" dirty="0">
                          <a:effectLst/>
                        </a:rPr>
                        <a:t>.0</a:t>
                      </a:r>
                      <a:r>
                        <a:rPr lang="en-CA" sz="1000" b="1" dirty="0">
                          <a:effectLst/>
                        </a:rPr>
                        <a:t>/24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10.0.1</a:t>
                      </a:r>
                      <a:r>
                        <a:rPr lang="en-CA" sz="1000" b="0" dirty="0">
                          <a:effectLst/>
                        </a:rPr>
                        <a:t>.1 - </a:t>
                      </a:r>
                      <a:r>
                        <a:rPr lang="en-CA" sz="1000" b="1" dirty="0">
                          <a:effectLst/>
                        </a:rPr>
                        <a:t>10.0.1</a:t>
                      </a:r>
                      <a:r>
                        <a:rPr lang="en-CA" sz="1000" b="0" dirty="0">
                          <a:effectLst/>
                        </a:rPr>
                        <a:t>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10.0.1</a:t>
                      </a:r>
                      <a:r>
                        <a:rPr lang="en-CA" sz="1000" b="0" dirty="0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838933585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10.0.2</a:t>
                      </a:r>
                      <a:r>
                        <a:rPr lang="en-CA" sz="1000" b="0" dirty="0">
                          <a:effectLst/>
                        </a:rPr>
                        <a:t>.0</a:t>
                      </a:r>
                      <a:r>
                        <a:rPr lang="en-CA" sz="1000" b="1" dirty="0">
                          <a:effectLst/>
                        </a:rPr>
                        <a:t>/24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10.0.2</a:t>
                      </a:r>
                      <a:r>
                        <a:rPr lang="en-CA" sz="1000" b="0" dirty="0">
                          <a:effectLst/>
                        </a:rPr>
                        <a:t>.1 - </a:t>
                      </a:r>
                      <a:r>
                        <a:rPr lang="en-CA" sz="1000" b="1" dirty="0">
                          <a:effectLst/>
                        </a:rPr>
                        <a:t>10.0.2</a:t>
                      </a:r>
                      <a:r>
                        <a:rPr lang="en-CA" sz="1000" b="0" dirty="0">
                          <a:effectLst/>
                        </a:rPr>
                        <a:t>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10.0.2</a:t>
                      </a:r>
                      <a:r>
                        <a:rPr lang="en-CA" sz="1000" b="0" dirty="0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643493669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…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…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…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459356146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10.0.255</a:t>
                      </a:r>
                      <a:r>
                        <a:rPr lang="en-CA" sz="1000" b="0" dirty="0">
                          <a:effectLst/>
                        </a:rPr>
                        <a:t>.0</a:t>
                      </a:r>
                      <a:r>
                        <a:rPr lang="en-CA" sz="1000" b="1" dirty="0">
                          <a:effectLst/>
                        </a:rPr>
                        <a:t>/24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10.0.255</a:t>
                      </a:r>
                      <a:r>
                        <a:rPr lang="en-CA" sz="1000" b="0" dirty="0">
                          <a:effectLst/>
                        </a:rPr>
                        <a:t>.1 - </a:t>
                      </a:r>
                      <a:r>
                        <a:rPr lang="en-CA" sz="1000" b="1" dirty="0">
                          <a:effectLst/>
                        </a:rPr>
                        <a:t>10.0.255</a:t>
                      </a:r>
                      <a:r>
                        <a:rPr lang="en-CA" sz="1000" b="0" dirty="0">
                          <a:effectLst/>
                        </a:rPr>
                        <a:t>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10.0.255</a:t>
                      </a:r>
                      <a:r>
                        <a:rPr lang="en-CA" sz="1000" b="0" dirty="0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7579166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10.1.0</a:t>
                      </a:r>
                      <a:r>
                        <a:rPr lang="en-CA" sz="1000" b="0" dirty="0">
                          <a:effectLst/>
                        </a:rPr>
                        <a:t>.0</a:t>
                      </a:r>
                      <a:r>
                        <a:rPr lang="en-CA" sz="1000" b="1" dirty="0">
                          <a:effectLst/>
                        </a:rPr>
                        <a:t>/24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10.1.0</a:t>
                      </a:r>
                      <a:r>
                        <a:rPr lang="en-CA" sz="1000" b="0" dirty="0">
                          <a:effectLst/>
                        </a:rPr>
                        <a:t>.1 - </a:t>
                      </a:r>
                      <a:r>
                        <a:rPr lang="en-CA" sz="1000" b="1" dirty="0">
                          <a:effectLst/>
                        </a:rPr>
                        <a:t>10.1.0</a:t>
                      </a:r>
                      <a:r>
                        <a:rPr lang="en-CA" sz="1000" b="0" dirty="0">
                          <a:effectLst/>
                        </a:rPr>
                        <a:t>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10.1.0</a:t>
                      </a:r>
                      <a:r>
                        <a:rPr lang="en-CA" sz="1000" b="0" dirty="0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246693201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10.1.1</a:t>
                      </a:r>
                      <a:r>
                        <a:rPr lang="en-CA" sz="1000" b="0" dirty="0">
                          <a:effectLst/>
                        </a:rPr>
                        <a:t>.0</a:t>
                      </a:r>
                      <a:r>
                        <a:rPr lang="en-CA" sz="1000" b="1" dirty="0">
                          <a:effectLst/>
                        </a:rPr>
                        <a:t>/24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10.1.1</a:t>
                      </a:r>
                      <a:r>
                        <a:rPr lang="en-CA" sz="1000" b="0" dirty="0">
                          <a:effectLst/>
                        </a:rPr>
                        <a:t>.1 - </a:t>
                      </a:r>
                      <a:r>
                        <a:rPr lang="en-CA" sz="1000" b="1" dirty="0">
                          <a:effectLst/>
                        </a:rPr>
                        <a:t>10.1.1</a:t>
                      </a:r>
                      <a:r>
                        <a:rPr lang="en-CA" sz="1000" b="0" dirty="0">
                          <a:effectLst/>
                        </a:rPr>
                        <a:t>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10.1.1</a:t>
                      </a:r>
                      <a:r>
                        <a:rPr lang="en-CA" sz="1000" b="0" dirty="0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260802008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10.1.2</a:t>
                      </a:r>
                      <a:r>
                        <a:rPr lang="en-CA" sz="1000" b="0" dirty="0">
                          <a:effectLst/>
                        </a:rPr>
                        <a:t>.0</a:t>
                      </a:r>
                      <a:r>
                        <a:rPr lang="en-CA" sz="1000" b="1" dirty="0">
                          <a:effectLst/>
                        </a:rPr>
                        <a:t>/24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10.1.2</a:t>
                      </a:r>
                      <a:r>
                        <a:rPr lang="en-CA" sz="1000" b="0" dirty="0">
                          <a:effectLst/>
                        </a:rPr>
                        <a:t>.1 - </a:t>
                      </a:r>
                      <a:r>
                        <a:rPr lang="en-CA" sz="1000" b="1" dirty="0">
                          <a:effectLst/>
                        </a:rPr>
                        <a:t>10.1.2</a:t>
                      </a:r>
                      <a:r>
                        <a:rPr lang="en-CA" sz="1000" b="0" dirty="0">
                          <a:effectLst/>
                        </a:rPr>
                        <a:t>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10.1.2</a:t>
                      </a:r>
                      <a:r>
                        <a:rPr lang="en-CA" sz="1000" b="0" dirty="0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140251696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…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…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…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79384603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10.100.0</a:t>
                      </a:r>
                      <a:r>
                        <a:rPr lang="en-CA" sz="1000" b="0" dirty="0">
                          <a:effectLst/>
                        </a:rPr>
                        <a:t>.0</a:t>
                      </a:r>
                      <a:r>
                        <a:rPr lang="en-CA" sz="1000" b="1" dirty="0">
                          <a:effectLst/>
                        </a:rPr>
                        <a:t>/24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10.100.0</a:t>
                      </a:r>
                      <a:r>
                        <a:rPr lang="en-CA" sz="1000" b="0" dirty="0">
                          <a:effectLst/>
                        </a:rPr>
                        <a:t>.1 - </a:t>
                      </a:r>
                      <a:r>
                        <a:rPr lang="en-CA" sz="1000" b="1" dirty="0">
                          <a:effectLst/>
                        </a:rPr>
                        <a:t>10.100.0</a:t>
                      </a:r>
                      <a:r>
                        <a:rPr lang="en-CA" sz="1000" b="0" dirty="0">
                          <a:effectLst/>
                        </a:rPr>
                        <a:t>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10.100.0</a:t>
                      </a:r>
                      <a:r>
                        <a:rPr lang="en-CA" sz="1000" b="0" dirty="0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319694656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...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...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...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511108504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10.255.255</a:t>
                      </a:r>
                      <a:r>
                        <a:rPr lang="en-CA" sz="1000" b="0" dirty="0">
                          <a:effectLst/>
                        </a:rPr>
                        <a:t>.0</a:t>
                      </a:r>
                      <a:r>
                        <a:rPr lang="en-CA" sz="1000" b="1" dirty="0">
                          <a:effectLst/>
                        </a:rPr>
                        <a:t>/24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10.255.255</a:t>
                      </a:r>
                      <a:r>
                        <a:rPr lang="en-CA" sz="1000" b="0" dirty="0">
                          <a:effectLst/>
                        </a:rPr>
                        <a:t>.1 - </a:t>
                      </a:r>
                      <a:r>
                        <a:rPr lang="en-CA" sz="1000" b="1" dirty="0">
                          <a:effectLst/>
                        </a:rPr>
                        <a:t>10.2255.255</a:t>
                      </a:r>
                      <a:r>
                        <a:rPr lang="en-CA" sz="1000" b="0" dirty="0">
                          <a:effectLst/>
                        </a:rPr>
                        <a:t>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10.255.255</a:t>
                      </a:r>
                      <a:r>
                        <a:rPr lang="en-CA" sz="1000" b="0" dirty="0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36941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54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Subnet an IPv4 Network</a:t>
            </a:r>
            <a:br>
              <a:rPr lang="en-US" dirty="0"/>
            </a:br>
            <a:r>
              <a:rPr lang="en-CA" sz="2400" dirty="0"/>
              <a:t>Subnet within an Octet Boundary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464334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Refer to the table to see six ways to subnet a /24 network.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E5DF15-7779-4ED6-8960-EFEFE4B7C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557391"/>
              </p:ext>
            </p:extLst>
          </p:nvPr>
        </p:nvGraphicFramePr>
        <p:xfrm>
          <a:off x="1207769" y="1457067"/>
          <a:ext cx="672846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3173678455"/>
                    </a:ext>
                  </a:extLst>
                </a:gridCol>
                <a:gridCol w="1203960">
                  <a:extLst>
                    <a:ext uri="{9D8B030D-6E8A-4147-A177-3AD203B41FA5}">
                      <a16:colId xmlns:a16="http://schemas.microsoft.com/office/drawing/2014/main" val="1538934761"/>
                    </a:ext>
                  </a:extLst>
                </a:gridCol>
                <a:gridCol w="3092530">
                  <a:extLst>
                    <a:ext uri="{9D8B030D-6E8A-4147-A177-3AD203B41FA5}">
                      <a16:colId xmlns:a16="http://schemas.microsoft.com/office/drawing/2014/main" val="1045760004"/>
                    </a:ext>
                  </a:extLst>
                </a:gridCol>
                <a:gridCol w="747950">
                  <a:extLst>
                    <a:ext uri="{9D8B030D-6E8A-4147-A177-3AD203B41FA5}">
                      <a16:colId xmlns:a16="http://schemas.microsoft.com/office/drawing/2014/main" val="248549605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660007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dirty="0">
                          <a:effectLst/>
                        </a:rPr>
                        <a:t>Prefix Length</a:t>
                      </a:r>
                      <a:endParaRPr lang="en-CA" sz="10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dirty="0">
                          <a:effectLst/>
                        </a:rPr>
                        <a:t>Subnet Mask</a:t>
                      </a:r>
                      <a:endParaRPr lang="en-CA" sz="10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dirty="0">
                          <a:effectLst/>
                        </a:rPr>
                        <a:t>Subnet Mask in Binary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lang="en-CA" sz="1000" b="1" dirty="0">
                          <a:effectLst/>
                        </a:rPr>
                        <a:t>(n = network, h = host)</a:t>
                      </a:r>
                      <a:endParaRPr lang="en-CA" sz="10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dirty="0">
                          <a:effectLst/>
                        </a:rPr>
                        <a:t># of subnets</a:t>
                      </a:r>
                      <a:endParaRPr lang="en-CA" sz="10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dirty="0">
                          <a:effectLst/>
                        </a:rPr>
                        <a:t># of hosts</a:t>
                      </a:r>
                      <a:endParaRPr lang="en-CA" sz="10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75849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/25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255.255.255.128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2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126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0127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/26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255.255.255.192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4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62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99912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/27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255.255.255.224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8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30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6473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255.255.255.240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16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14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94683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/29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255.255.255.248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32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090259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/30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255.255.255.252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64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211026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95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Subnet a Slash 16 and a Slash 8 Prefix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4441035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Subnet a Slash 16 and a Slash 8 Prefix</a:t>
            </a:r>
            <a:br>
              <a:rPr lang="en-US" dirty="0"/>
            </a:br>
            <a:r>
              <a:rPr lang="en-CA" sz="2400" dirty="0"/>
              <a:t>Create Subnets with a Slash 16 prefix</a:t>
            </a:r>
            <a:endParaRPr lang="en-US" sz="240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92F2256-EB3D-415D-8AD3-8D728E435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128" y="855419"/>
            <a:ext cx="2875109" cy="307394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table highlights all the possible scenarios for subnetting a /16 prefix.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E0FA95-43CC-4153-B365-8C3E8D1B3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205993"/>
              </p:ext>
            </p:extLst>
          </p:nvPr>
        </p:nvGraphicFramePr>
        <p:xfrm>
          <a:off x="3399543" y="655320"/>
          <a:ext cx="5744457" cy="448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603">
                  <a:extLst>
                    <a:ext uri="{9D8B030D-6E8A-4147-A177-3AD203B41FA5}">
                      <a16:colId xmlns:a16="http://schemas.microsoft.com/office/drawing/2014/main" val="3400914921"/>
                    </a:ext>
                  </a:extLst>
                </a:gridCol>
                <a:gridCol w="1016821">
                  <a:extLst>
                    <a:ext uri="{9D8B030D-6E8A-4147-A177-3AD203B41FA5}">
                      <a16:colId xmlns:a16="http://schemas.microsoft.com/office/drawing/2014/main" val="2755569675"/>
                    </a:ext>
                  </a:extLst>
                </a:gridCol>
                <a:gridCol w="2372584">
                  <a:extLst>
                    <a:ext uri="{9D8B030D-6E8A-4147-A177-3AD203B41FA5}">
                      <a16:colId xmlns:a16="http://schemas.microsoft.com/office/drawing/2014/main" val="2977755399"/>
                    </a:ext>
                  </a:extLst>
                </a:gridCol>
                <a:gridCol w="714017">
                  <a:extLst>
                    <a:ext uri="{9D8B030D-6E8A-4147-A177-3AD203B41FA5}">
                      <a16:colId xmlns:a16="http://schemas.microsoft.com/office/drawing/2014/main" val="1257793725"/>
                    </a:ext>
                  </a:extLst>
                </a:gridCol>
                <a:gridCol w="653432">
                  <a:extLst>
                    <a:ext uri="{9D8B030D-6E8A-4147-A177-3AD203B41FA5}">
                      <a16:colId xmlns:a16="http://schemas.microsoft.com/office/drawing/2014/main" val="859093634"/>
                    </a:ext>
                  </a:extLst>
                </a:gridCol>
              </a:tblGrid>
              <a:tr h="176501">
                <a:tc>
                  <a:txBody>
                    <a:bodyPr/>
                    <a:lstStyle/>
                    <a:p>
                      <a:pPr algn="l" fontAlgn="ctr"/>
                      <a:r>
                        <a:rPr lang="en-CA" sz="800" b="1" dirty="0">
                          <a:effectLst/>
                        </a:rPr>
                        <a:t>Prefix Length</a:t>
                      </a:r>
                      <a:endParaRPr lang="en-CA" sz="8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800" b="1" dirty="0">
                          <a:effectLst/>
                        </a:rPr>
                        <a:t>Subnet Mask</a:t>
                      </a:r>
                      <a:endParaRPr lang="en-CA" sz="8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800" b="1" dirty="0">
                          <a:effectLst/>
                        </a:rPr>
                        <a:t>Network Address (n = network, h = host)</a:t>
                      </a:r>
                      <a:endParaRPr lang="en-CA" sz="8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800" b="1" dirty="0">
                          <a:effectLst/>
                        </a:rPr>
                        <a:t># of subnets</a:t>
                      </a:r>
                      <a:endParaRPr lang="en-CA" sz="8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800" b="1" dirty="0">
                          <a:effectLst/>
                        </a:rPr>
                        <a:t># of hosts</a:t>
                      </a:r>
                      <a:endParaRPr lang="en-CA" sz="8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34953287"/>
                  </a:ext>
                </a:extLst>
              </a:tr>
              <a:tr h="292556"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/17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255.255.</a:t>
                      </a:r>
                      <a:r>
                        <a:rPr lang="en-CA" sz="800" b="1" dirty="0">
                          <a:effectLst/>
                        </a:rPr>
                        <a:t>128</a:t>
                      </a:r>
                      <a:r>
                        <a:rPr lang="en-CA" sz="800" b="0" dirty="0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1" dirty="0">
                          <a:effectLst/>
                        </a:rPr>
                        <a:t>2</a:t>
                      </a:r>
                      <a:endParaRPr lang="en-CA" sz="8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32766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43777364"/>
                  </a:ext>
                </a:extLst>
              </a:tr>
              <a:tr h="292556"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/18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255.255.</a:t>
                      </a:r>
                      <a:r>
                        <a:rPr lang="en-CA" sz="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</a:t>
                      </a:r>
                      <a:r>
                        <a:rPr lang="en-CA" sz="800" b="0" dirty="0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1" dirty="0">
                          <a:effectLst/>
                        </a:rPr>
                        <a:t>4</a:t>
                      </a:r>
                      <a:endParaRPr lang="en-CA" sz="8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16382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507666450"/>
                  </a:ext>
                </a:extLst>
              </a:tr>
              <a:tr h="292556"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/19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255.255.</a:t>
                      </a:r>
                      <a:r>
                        <a:rPr lang="en-CA" sz="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224</a:t>
                      </a:r>
                      <a:r>
                        <a:rPr lang="en-CA" sz="800" b="0" dirty="0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1" dirty="0">
                          <a:effectLst/>
                        </a:rPr>
                        <a:t>8</a:t>
                      </a:r>
                      <a:endParaRPr lang="en-CA" sz="8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8190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895088631"/>
                  </a:ext>
                </a:extLst>
              </a:tr>
              <a:tr h="292556"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/20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255.255.</a:t>
                      </a:r>
                      <a:r>
                        <a:rPr lang="en-CA" sz="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</a:t>
                      </a:r>
                      <a:r>
                        <a:rPr lang="en-CA" sz="800" b="0" dirty="0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1" dirty="0">
                          <a:effectLst/>
                        </a:rPr>
                        <a:t>16</a:t>
                      </a:r>
                      <a:endParaRPr lang="en-CA" sz="8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4094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687745671"/>
                  </a:ext>
                </a:extLst>
              </a:tr>
              <a:tr h="292556"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/21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255.255.</a:t>
                      </a:r>
                      <a:r>
                        <a:rPr lang="en-CA" sz="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248</a:t>
                      </a:r>
                      <a:r>
                        <a:rPr lang="en-CA" sz="800" b="0" dirty="0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1" dirty="0">
                          <a:effectLst/>
                        </a:rPr>
                        <a:t>32</a:t>
                      </a:r>
                      <a:endParaRPr lang="en-CA" sz="8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2046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717418088"/>
                  </a:ext>
                </a:extLst>
              </a:tr>
              <a:tr h="292556"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/22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255.255.</a:t>
                      </a:r>
                      <a:r>
                        <a:rPr lang="en-CA" sz="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252</a:t>
                      </a:r>
                      <a:r>
                        <a:rPr lang="en-CA" sz="800" b="0" dirty="0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1" dirty="0">
                          <a:effectLst/>
                        </a:rPr>
                        <a:t>64</a:t>
                      </a:r>
                      <a:endParaRPr lang="en-CA" sz="8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1022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97882614"/>
                  </a:ext>
                </a:extLst>
              </a:tr>
              <a:tr h="292556"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/23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255.255.</a:t>
                      </a:r>
                      <a:r>
                        <a:rPr lang="en-CA" sz="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254</a:t>
                      </a:r>
                      <a:r>
                        <a:rPr lang="en-CA" sz="800" b="0" dirty="0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1" dirty="0">
                          <a:effectLst/>
                        </a:rPr>
                        <a:t>128</a:t>
                      </a:r>
                      <a:endParaRPr lang="en-CA" sz="8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510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013125813"/>
                  </a:ext>
                </a:extLst>
              </a:tr>
              <a:tr h="292556"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255.255.</a:t>
                      </a:r>
                      <a:r>
                        <a:rPr lang="en-CA" sz="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lang="en-CA" sz="800" b="0" dirty="0">
                          <a:effectLst/>
                        </a:rPr>
                        <a:t>.</a:t>
                      </a:r>
                      <a:r>
                        <a:rPr lang="en-CA" sz="800" b="1" dirty="0">
                          <a:effectLst/>
                        </a:rPr>
                        <a:t>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1" dirty="0">
                          <a:effectLst/>
                        </a:rPr>
                        <a:t>256</a:t>
                      </a:r>
                      <a:endParaRPr lang="en-CA" sz="8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254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556719010"/>
                  </a:ext>
                </a:extLst>
              </a:tr>
              <a:tr h="292556"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/25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255.255.</a:t>
                      </a:r>
                      <a:r>
                        <a:rPr lang="en-CA" sz="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lang="en-CA" sz="800" b="0" dirty="0">
                          <a:effectLst/>
                        </a:rPr>
                        <a:t>.</a:t>
                      </a:r>
                      <a:r>
                        <a:rPr lang="en-CA" sz="800" b="1" dirty="0">
                          <a:effectLst/>
                        </a:rPr>
                        <a:t>128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1" dirty="0">
                          <a:effectLst/>
                        </a:rPr>
                        <a:t>512</a:t>
                      </a:r>
                      <a:endParaRPr lang="en-CA" sz="8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126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857005324"/>
                  </a:ext>
                </a:extLst>
              </a:tr>
              <a:tr h="292556"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/26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255.255.</a:t>
                      </a:r>
                      <a:r>
                        <a:rPr lang="en-CA" sz="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lang="en-CA" sz="800" b="0" dirty="0">
                          <a:effectLst/>
                        </a:rPr>
                        <a:t>.</a:t>
                      </a:r>
                      <a:r>
                        <a:rPr lang="en-CA" sz="800" b="1" dirty="0">
                          <a:effectLst/>
                        </a:rPr>
                        <a:t>192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1" dirty="0">
                          <a:effectLst/>
                        </a:rPr>
                        <a:t>1024</a:t>
                      </a:r>
                      <a:endParaRPr lang="en-CA" sz="8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62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884378750"/>
                  </a:ext>
                </a:extLst>
              </a:tr>
              <a:tr h="292556"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/27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255.255.</a:t>
                      </a:r>
                      <a:r>
                        <a:rPr lang="en-CA" sz="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lang="en-CA" sz="800" b="0" dirty="0">
                          <a:effectLst/>
                        </a:rPr>
                        <a:t>.</a:t>
                      </a:r>
                      <a:r>
                        <a:rPr lang="en-CA" sz="800" b="1" dirty="0">
                          <a:effectLst/>
                        </a:rPr>
                        <a:t>224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1" dirty="0">
                          <a:effectLst/>
                        </a:rPr>
                        <a:t>2048</a:t>
                      </a:r>
                      <a:endParaRPr lang="en-CA" sz="8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30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662949982"/>
                  </a:ext>
                </a:extLst>
              </a:tr>
              <a:tr h="292556"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/28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255.255</a:t>
                      </a:r>
                      <a:r>
                        <a:rPr lang="en-CA" sz="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.255.</a:t>
                      </a:r>
                      <a:r>
                        <a:rPr lang="en-CA" sz="800" b="1" dirty="0">
                          <a:effectLst/>
                        </a:rPr>
                        <a:t>240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1" dirty="0">
                          <a:effectLst/>
                        </a:rPr>
                        <a:t>4096</a:t>
                      </a:r>
                      <a:endParaRPr lang="en-CA" sz="8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14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47945818"/>
                  </a:ext>
                </a:extLst>
              </a:tr>
              <a:tr h="292556"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/29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255.255.</a:t>
                      </a:r>
                      <a:r>
                        <a:rPr lang="en-CA" sz="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lang="en-CA" sz="800" b="0" dirty="0">
                          <a:effectLst/>
                        </a:rPr>
                        <a:t>.</a:t>
                      </a:r>
                      <a:r>
                        <a:rPr lang="en-CA" sz="800" b="1" dirty="0">
                          <a:effectLst/>
                        </a:rPr>
                        <a:t>248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1" dirty="0">
                          <a:effectLst/>
                        </a:rPr>
                        <a:t>8192</a:t>
                      </a:r>
                      <a:endParaRPr lang="en-CA" sz="8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719294433"/>
                  </a:ext>
                </a:extLst>
              </a:tr>
              <a:tr h="292556"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/30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255.255.</a:t>
                      </a:r>
                      <a:r>
                        <a:rPr lang="en-CA" sz="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255.</a:t>
                      </a:r>
                      <a:r>
                        <a:rPr lang="en-CA" sz="800" b="1" dirty="0">
                          <a:effectLst/>
                        </a:rPr>
                        <a:t>252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</a:t>
                      </a:r>
                      <a:r>
                        <a:rPr lang="en-CA" sz="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</a:t>
                      </a:r>
                      <a: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1" dirty="0">
                          <a:effectLst/>
                        </a:rPr>
                        <a:t>16384</a:t>
                      </a:r>
                      <a:endParaRPr lang="en-CA" sz="8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800" b="0" dirty="0">
                          <a:effectLst/>
                        </a:rPr>
                        <a:t>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088457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49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Subnet a Slash 16 and a Slash 8 Prefix</a:t>
            </a:r>
            <a:br>
              <a:rPr lang="en-US" dirty="0"/>
            </a:br>
            <a:r>
              <a:rPr lang="en-CA" sz="2400" dirty="0"/>
              <a:t>Create 100 Subnets with a Slash 16 prefix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64845"/>
            <a:ext cx="5403221" cy="3669447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Consider a large enterprise that requires at least 100 subnets and has chosen the private address 172.16.0.0/16 as its internal network address.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figure displays the number of subnets that can be created when borrowing bits from the third octet and the fourth octet.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Notice there are now up to 14 host bits that can be borrowed (i.e., last two bits cannot be borrowed).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To satisfy the requirement of 100 subnets for the enterprise, 7 bits (i.e., 2</a:t>
            </a:r>
            <a:r>
              <a:rPr lang="en-CA" sz="1600" baseline="30000" dirty="0">
                <a:solidFill>
                  <a:srgbClr val="000000"/>
                </a:solidFill>
              </a:rPr>
              <a:t>7</a:t>
            </a:r>
            <a:r>
              <a:rPr lang="en-CA" sz="1600" dirty="0">
                <a:solidFill>
                  <a:srgbClr val="000000"/>
                </a:solidFill>
              </a:rPr>
              <a:t> = 128 subnets) would need to be borrowed (for a total of 128 subnets).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912EB9-9234-4648-AF24-14759A57C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029" y="855419"/>
            <a:ext cx="2914800" cy="280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66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Subnet a Slash 16 and a Slash 8 Prefix</a:t>
            </a:r>
            <a:br>
              <a:rPr lang="en-US" dirty="0"/>
            </a:br>
            <a:r>
              <a:rPr lang="en-CA" sz="2400" dirty="0"/>
              <a:t>Create 1000 Subnets with a Slash 8 prefix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4863929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Consider a small ISP that requires 1000 subnets for its clients using network address 10.0.0.0/8 which means there are 8 bits in the network portion and 24 host bits available to borrow toward subnetting.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0000"/>
                </a:solidFill>
              </a:rPr>
              <a:t>The figure displays the number of subnets that can be created when borrowing bits from the second and third.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0000"/>
                </a:solidFill>
              </a:rPr>
              <a:t>Notice there are now up to 22 host bits that can be borrowed (i.e., last two bits cannot be borrowed).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To satisfy the requirement of 1000 subnets for the enterprise, 10 bits (i.e., 2</a:t>
            </a:r>
            <a:r>
              <a:rPr lang="en-CA" sz="1600" baseline="30000" dirty="0">
                <a:solidFill>
                  <a:srgbClr val="000000"/>
                </a:solidFill>
              </a:rPr>
              <a:t>10</a:t>
            </a:r>
            <a:r>
              <a:rPr lang="en-CA" sz="1600" dirty="0">
                <a:solidFill>
                  <a:srgbClr val="000000"/>
                </a:solidFill>
              </a:rPr>
              <a:t>=1024 subnets) would need to be borrowed (for a total of 128 subnets)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0D50AE-022A-4CE2-A161-C94FE631C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726" y="826108"/>
            <a:ext cx="3648229" cy="242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86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Subnet to Meet Requirements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9129250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Subnet to Meet Requirements</a:t>
            </a:r>
            <a:br>
              <a:rPr lang="en-US" dirty="0"/>
            </a:br>
            <a:r>
              <a:rPr lang="en-CA" sz="2400" dirty="0"/>
              <a:t>Subnet Private versus Public IPv4 Address Space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4985849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Enterprise networks will have an: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Intranet - A company’s internal network typically using private IPv4 addresses.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DMZ – A companies internet facing servers. Devices in the DMZ use public IPv4 addresses.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A company could use the 10.0.0.0/8 and subnet on the /16 or /24 network boundary.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DMZ devices would have to be configured with public IP addresses.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D669F9-6546-4D50-B5D4-ED794ADFF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134" y="1118336"/>
            <a:ext cx="3581835" cy="239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48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Subnet to Meet Requirements</a:t>
            </a:r>
            <a:br>
              <a:rPr lang="en-US" dirty="0"/>
            </a:br>
            <a:r>
              <a:rPr lang="en-CA" sz="2000" dirty="0"/>
              <a:t>Minimize Unused Host IPv4 Addresses and Maximize Subnets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973381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There are two considerations when planning subnets: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number of host addresses required for each network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number of individual subnets needed</a:t>
            </a: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CC84FF-7C82-4B7C-A9C2-37AE1AC6A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510119"/>
              </p:ext>
            </p:extLst>
          </p:nvPr>
        </p:nvGraphicFramePr>
        <p:xfrm>
          <a:off x="1207769" y="1944355"/>
          <a:ext cx="672846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3173678455"/>
                    </a:ext>
                  </a:extLst>
                </a:gridCol>
                <a:gridCol w="1203960">
                  <a:extLst>
                    <a:ext uri="{9D8B030D-6E8A-4147-A177-3AD203B41FA5}">
                      <a16:colId xmlns:a16="http://schemas.microsoft.com/office/drawing/2014/main" val="1538934761"/>
                    </a:ext>
                  </a:extLst>
                </a:gridCol>
                <a:gridCol w="3092530">
                  <a:extLst>
                    <a:ext uri="{9D8B030D-6E8A-4147-A177-3AD203B41FA5}">
                      <a16:colId xmlns:a16="http://schemas.microsoft.com/office/drawing/2014/main" val="1045760004"/>
                    </a:ext>
                  </a:extLst>
                </a:gridCol>
                <a:gridCol w="747950">
                  <a:extLst>
                    <a:ext uri="{9D8B030D-6E8A-4147-A177-3AD203B41FA5}">
                      <a16:colId xmlns:a16="http://schemas.microsoft.com/office/drawing/2014/main" val="248549605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660007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dirty="0">
                          <a:effectLst/>
                        </a:rPr>
                        <a:t>Prefix Length</a:t>
                      </a:r>
                      <a:endParaRPr lang="en-CA" sz="10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dirty="0">
                          <a:effectLst/>
                        </a:rPr>
                        <a:t>Subnet Mask</a:t>
                      </a:r>
                      <a:endParaRPr lang="en-CA" sz="10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dirty="0">
                          <a:effectLst/>
                        </a:rPr>
                        <a:t>Subnet Mask in Binary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lang="en-CA" sz="1000" b="1" dirty="0">
                          <a:effectLst/>
                        </a:rPr>
                        <a:t>(n = network, h = host)</a:t>
                      </a:r>
                      <a:endParaRPr lang="en-CA" sz="10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dirty="0">
                          <a:effectLst/>
                        </a:rPr>
                        <a:t># of subnets</a:t>
                      </a:r>
                      <a:endParaRPr lang="en-CA" sz="10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dirty="0">
                          <a:effectLst/>
                        </a:rPr>
                        <a:t># of hosts</a:t>
                      </a:r>
                      <a:endParaRPr lang="en-CA" sz="10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75849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/25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255.255.255.128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2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126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0127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/26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255.255.255.192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4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62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99912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/27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255.255.255.224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8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30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6473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255.255.255.240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16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14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94683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/29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255.255.255.248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32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090259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/30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255.255.255.252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en-CA" sz="1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</a:t>
                      </a:r>
                      <a: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1" dirty="0">
                          <a:effectLst/>
                        </a:rPr>
                        <a:t>64</a:t>
                      </a:r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effectLst/>
                        </a:rPr>
                        <a:t>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211026032"/>
                  </a:ext>
                </a:extLst>
              </a:tr>
            </a:tbl>
          </a:graphicData>
        </a:graphic>
      </p:graphicFrame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2049570-73E8-4725-BB39-4CAE9ED89E03}"/>
              </a:ext>
            </a:extLst>
          </p:cNvPr>
          <p:cNvCxnSpPr>
            <a:cxnSpLocks/>
          </p:cNvCxnSpPr>
          <p:nvPr/>
        </p:nvCxnSpPr>
        <p:spPr>
          <a:xfrm>
            <a:off x="6019800" y="1304168"/>
            <a:ext cx="1516380" cy="602479"/>
          </a:xfrm>
          <a:prstGeom prst="bentConnector2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FFCA02D-B099-4C7E-83CA-8A71906FCE6C}"/>
              </a:ext>
            </a:extLst>
          </p:cNvPr>
          <p:cNvCxnSpPr>
            <a:cxnSpLocks/>
          </p:cNvCxnSpPr>
          <p:nvPr/>
        </p:nvCxnSpPr>
        <p:spPr>
          <a:xfrm>
            <a:off x="4709160" y="1605407"/>
            <a:ext cx="2119081" cy="301240"/>
          </a:xfrm>
          <a:prstGeom prst="bentConnector2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07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Subnet to Meet Requirements</a:t>
            </a:r>
            <a:br>
              <a:rPr lang="en-US" dirty="0"/>
            </a:br>
            <a:r>
              <a:rPr lang="en-US" sz="2400" dirty="0"/>
              <a:t>Example: Efficient IPv4 Subnetting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4709280" cy="307394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In this example, corporate headquarters has been allocated a public network address of 172.16.0.0/22 (10 host bits) by its ISP providing 1,022 host addresses.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There are five sites and therefore five internet connections which means the organization requires 10 subnets with the largest subnet requires 40 addresses.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It allocated 10 subnets with a /26 (i.e., 255.255.255.192) subnet mask.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26F2B6-A5EE-4BC1-9196-BEEE11210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925762"/>
            <a:ext cx="3031600" cy="10884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D967D5-2BEE-4CAF-BF74-C8F6AFDA0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3229" y="2208184"/>
            <a:ext cx="3616498" cy="240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20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40625" y="2740660"/>
            <a:ext cx="2822075" cy="777240"/>
          </a:xfrm>
        </p:spPr>
        <p:txBody>
          <a:bodyPr/>
          <a:lstStyle/>
          <a:p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VLSM</a:t>
            </a:r>
            <a:b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6898405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VLSM</a:t>
            </a:r>
            <a:br>
              <a:rPr lang="en-US" dirty="0"/>
            </a:br>
            <a:r>
              <a:rPr lang="en-US" sz="2400" dirty="0"/>
              <a:t>IPv4 Address Conservation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510709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Given the topology, 7 subnets are required (i.e, four LANs and three WAN links) and the largest number of host is in Building D with 28 hosts.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 /27 mask would provide 8 subnets of 30 host IP addresses and therefore support this topology.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6B421B-63BE-47B3-B5D3-2A12580CC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096" y="2771225"/>
            <a:ext cx="5683805" cy="154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275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VLSM</a:t>
            </a:r>
            <a:br>
              <a:rPr lang="en-US" dirty="0"/>
            </a:br>
            <a:r>
              <a:rPr lang="en-US" sz="2400" dirty="0"/>
              <a:t>IPv4 Address Conservation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6091377" cy="944845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However, the point-to-point WAN links only require two addresses and therefore waste 28 addresses each for a total of 84 unused addresses.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39215E-8970-45B2-8162-265CF46FA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093" y="731837"/>
            <a:ext cx="2221789" cy="9448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D6B421B-63BE-47B3-B5D3-2A12580CC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0097" y="1800264"/>
            <a:ext cx="5683805" cy="1542972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D0A209-0C20-474A-8988-82BCE662C636}"/>
              </a:ext>
            </a:extLst>
          </p:cNvPr>
          <p:cNvSpPr txBox="1">
            <a:spLocks/>
          </p:cNvSpPr>
          <p:nvPr/>
        </p:nvSpPr>
        <p:spPr>
          <a:xfrm>
            <a:off x="431971" y="3343237"/>
            <a:ext cx="8280058" cy="1304964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Applying a traditional subnetting scheme to this scenario is not very efficient and is wasteful.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VLSM was developed to avoid wasting addresses by enabling us to subnet a subnet.</a:t>
            </a:r>
          </a:p>
        </p:txBody>
      </p:sp>
    </p:spTree>
    <p:extLst>
      <p:ext uri="{BB962C8B-B14F-4D97-AF65-F5344CB8AC3E}">
        <p14:creationId xmlns:p14="http://schemas.microsoft.com/office/powerpoint/2010/main" val="201712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VLSM</a:t>
            </a:r>
            <a:br>
              <a:rPr lang="en-US" dirty="0"/>
            </a:br>
            <a:r>
              <a:rPr lang="en-US" sz="2400" dirty="0"/>
              <a:t>VLSM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154" y="855420"/>
            <a:ext cx="5519249" cy="241139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left side displays the traditional subnetting scheme (i.e., the same subnet mask) while the right side illustrates how VLSM can be used to subnet a subnet and divided the last subnet into eight /30 subnets.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When using VLSM, always begin by satisfying the host requirements of the largest subnet and continue subnetting until the host requirements of the smallest subnet are satisfied.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resulting topology with VLSM applied.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165FDB-636B-41FC-BD50-01D67FA8F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531" y="941078"/>
            <a:ext cx="3199159" cy="1960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45AD4C-7A7F-4FE5-B2F2-0DE8D4398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308" y="3313944"/>
            <a:ext cx="4484235" cy="143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6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VLSM</a:t>
            </a:r>
            <a:br>
              <a:rPr lang="en-US" dirty="0"/>
            </a:br>
            <a:r>
              <a:rPr lang="en-US" sz="2400" dirty="0"/>
              <a:t>VLSM Topology Address Assignment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78844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Using VLSM subnets, the LAN and inter-router networks can be addressed without unnecessary waste as shown in the logical topology diagram.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67DF-F387-422D-A1F1-5FB6AE722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99" y="1700427"/>
            <a:ext cx="7174401" cy="275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Structured Design</a:t>
            </a:r>
            <a:b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4535095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Structured Design</a:t>
            </a:r>
            <a:br>
              <a:rPr lang="en-US" dirty="0"/>
            </a:br>
            <a:r>
              <a:rPr lang="en-US" sz="2400" dirty="0"/>
              <a:t>IPv4 Network Address Planning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IP network planning is crucial to develop a scalable solution to an enterprise network.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0000"/>
                </a:solidFill>
              </a:rPr>
              <a:t>To develop an IPv4 network wide addressing scheme, you need to know how many subnets are needed, how many hosts a particular subnet requires, what devices are part of the subnet, which parts of your network use private addresses, and which use public, and many other determining factors.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4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Examine the needs of an organization’s network usage and how the subnets will be structured.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0000"/>
                </a:solidFill>
              </a:rPr>
              <a:t>Perform a network requirement study by looking at the entire network to determining how each area will be segmented.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0000"/>
                </a:solidFill>
              </a:rPr>
              <a:t>Determine how many subnets are needed and how many hosts per subnet.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0000"/>
                </a:solidFill>
              </a:rPr>
              <a:t>Determine DHCP address pools and Layer 2 VLAN pools.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475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Structured Design</a:t>
            </a:r>
            <a:br>
              <a:rPr lang="en-US" dirty="0"/>
            </a:br>
            <a:r>
              <a:rPr lang="en-US" sz="2400" dirty="0"/>
              <a:t>Device Address Assignment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Within a network, there are different types of devices that require addresses: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400" b="1" dirty="0">
                <a:solidFill>
                  <a:srgbClr val="000000"/>
                </a:solidFill>
              </a:rPr>
              <a:t>End user clients </a:t>
            </a:r>
            <a:r>
              <a:rPr lang="en-CA" sz="1400" dirty="0">
                <a:solidFill>
                  <a:srgbClr val="000000"/>
                </a:solidFill>
              </a:rPr>
              <a:t>– Most use DHCP to reduce errors and burden on network support staff. IPv6 clients can obtain address information using DHCPv6 or SLAAC.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400" b="1" dirty="0">
                <a:solidFill>
                  <a:srgbClr val="000000"/>
                </a:solidFill>
              </a:rPr>
              <a:t>Servers and peripherals </a:t>
            </a:r>
            <a:r>
              <a:rPr lang="en-CA" sz="1400" dirty="0">
                <a:solidFill>
                  <a:srgbClr val="000000"/>
                </a:solidFill>
              </a:rPr>
              <a:t>– These should have a predictable static IP address.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400" b="1" dirty="0">
                <a:solidFill>
                  <a:srgbClr val="000000"/>
                </a:solidFill>
              </a:rPr>
              <a:t>Servers that are accessible from the internet </a:t>
            </a:r>
            <a:r>
              <a:rPr lang="en-CA" sz="1400" dirty="0">
                <a:solidFill>
                  <a:srgbClr val="000000"/>
                </a:solidFill>
              </a:rPr>
              <a:t>– Servers must have a public IPv4 address, most often accessed using NAT.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400" b="1" dirty="0">
                <a:solidFill>
                  <a:srgbClr val="000000"/>
                </a:solidFill>
              </a:rPr>
              <a:t>Intermediary devices </a:t>
            </a:r>
            <a:r>
              <a:rPr lang="en-CA" sz="1400" dirty="0">
                <a:solidFill>
                  <a:srgbClr val="000000"/>
                </a:solidFill>
              </a:rPr>
              <a:t>– Devices are assigned addresses for network management, monitoring, and security.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400" b="1" dirty="0">
                <a:solidFill>
                  <a:srgbClr val="000000"/>
                </a:solidFill>
              </a:rPr>
              <a:t>Gateway</a:t>
            </a:r>
            <a:r>
              <a:rPr lang="en-CA" sz="1400" dirty="0">
                <a:solidFill>
                  <a:srgbClr val="000000"/>
                </a:solidFill>
              </a:rPr>
              <a:t> – Routers and firewall devices are gateway for the hosts in that network.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When developing an IP addressing scheme, it is generally recommended that you have a set pattern of how addresses are allocated to each type of device. 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32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10398</TotalTime>
  <Words>3668</Words>
  <Application>Microsoft Office PowerPoint</Application>
  <PresentationFormat>On-screen Show (16:9)</PresentationFormat>
  <Paragraphs>656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CiscoSans ExtraLight</vt:lpstr>
      <vt:lpstr>Courier New</vt:lpstr>
      <vt:lpstr>Default Theme</vt:lpstr>
      <vt:lpstr>IPv4 Addressing</vt:lpstr>
      <vt:lpstr>IPv4 Address Structure </vt:lpstr>
      <vt:lpstr>IPv4 Address Structure Network and Host Portions</vt:lpstr>
      <vt:lpstr>IPv4 Address Structure The Subnet Mask</vt:lpstr>
      <vt:lpstr>IPv4 Address Structure The Prefix Length</vt:lpstr>
      <vt:lpstr>IPv4 Address Structure Determining the Network: Logical AND</vt:lpstr>
      <vt:lpstr>IPv4 Address Structure Network, Host, and Broadcast Addresses</vt:lpstr>
      <vt:lpstr>IPv4 Unicast, Broadcast, and Multicast</vt:lpstr>
      <vt:lpstr>IPv4 Unicast, Broadcast, and Multicast Unicast</vt:lpstr>
      <vt:lpstr>IPv4 Unicast, Broadcast, and Multicast Broadcast</vt:lpstr>
      <vt:lpstr>IPv4 Unicast, Broadcast, and Multicast Multicast</vt:lpstr>
      <vt:lpstr>Types of IPv4 Addresses</vt:lpstr>
      <vt:lpstr>Types of IPv4 Addresses Public and Private IPv4 Addresses</vt:lpstr>
      <vt:lpstr>Types of IPv4 Addresses Routing to the Internet</vt:lpstr>
      <vt:lpstr>Types of IPv4 Addresses Special Use IPv4 Addresses</vt:lpstr>
      <vt:lpstr>Types of IPv4 Addresses Legacy Classful Addressing</vt:lpstr>
      <vt:lpstr>Types of IPv4 Addresses Assignment of IP Addresses</vt:lpstr>
      <vt:lpstr>Network Segmentation </vt:lpstr>
      <vt:lpstr>Network Segmentation Broadcast Domains and Segmentation</vt:lpstr>
      <vt:lpstr>Network Segmentation Problems with Large Broadcast Domains</vt:lpstr>
      <vt:lpstr>Network Segmentation Reasons for Segmenting Networks</vt:lpstr>
      <vt:lpstr>Subnet an IPv4 Network </vt:lpstr>
      <vt:lpstr>Subnet an IPv4 Network Subnet on an Octet Boundary</vt:lpstr>
      <vt:lpstr>Subnet an IPv4 Network Subnet on an Octet Boundary (Cont.)</vt:lpstr>
      <vt:lpstr>Subnet an IPv4 Network Subnet within an Octet Boundary</vt:lpstr>
      <vt:lpstr>Subnet a Slash 16 and a Slash 8 Prefix</vt:lpstr>
      <vt:lpstr>Subnet a Slash 16 and a Slash 8 Prefix Create Subnets with a Slash 16 prefix</vt:lpstr>
      <vt:lpstr>Subnet a Slash 16 and a Slash 8 Prefix Create 100 Subnets with a Slash 16 prefix</vt:lpstr>
      <vt:lpstr>Subnet a Slash 16 and a Slash 8 Prefix Create 1000 Subnets with a Slash 8 prefix</vt:lpstr>
      <vt:lpstr>Subnet to Meet Requirements</vt:lpstr>
      <vt:lpstr>Subnet to Meet Requirements Subnet Private versus Public IPv4 Address Space</vt:lpstr>
      <vt:lpstr>Subnet to Meet Requirements Minimize Unused Host IPv4 Addresses and Maximize Subnets</vt:lpstr>
      <vt:lpstr>Subnet to Meet Requirements Example: Efficient IPv4 Subnetting</vt:lpstr>
      <vt:lpstr>VLSM </vt:lpstr>
      <vt:lpstr>VLSM IPv4 Address Conservation</vt:lpstr>
      <vt:lpstr>VLSM IPv4 Address Conservation (Cont.)</vt:lpstr>
      <vt:lpstr>VLSM VLSM</vt:lpstr>
      <vt:lpstr>VLSM VLSM Topology Address Assignment</vt:lpstr>
      <vt:lpstr>Structured Design </vt:lpstr>
      <vt:lpstr>Structured Design IPv4 Network Address Planning</vt:lpstr>
      <vt:lpstr>Structured Design Device Address Assignment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bhashitha</cp:lastModifiedBy>
  <cp:revision>298</cp:revision>
  <dcterms:created xsi:type="dcterms:W3CDTF">2019-10-18T06:21:22Z</dcterms:created>
  <dcterms:modified xsi:type="dcterms:W3CDTF">2023-02-17T15:05:18Z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